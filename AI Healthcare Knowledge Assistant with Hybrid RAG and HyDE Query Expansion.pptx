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8" r:id="rId3"/>
    <p:sldId id="290" r:id="rId4"/>
    <p:sldId id="260" r:id="rId5"/>
    <p:sldId id="287" r:id="rId6"/>
    <p:sldId id="261" r:id="rId7"/>
    <p:sldId id="304" r:id="rId8"/>
    <p:sldId id="305" r:id="rId9"/>
    <p:sldId id="307" r:id="rId10"/>
    <p:sldId id="311" r:id="rId11"/>
    <p:sldId id="265" r:id="rId12"/>
    <p:sldId id="263" r:id="rId13"/>
    <p:sldId id="309" r:id="rId14"/>
    <p:sldId id="310" r:id="rId15"/>
    <p:sldId id="312" r:id="rId16"/>
    <p:sldId id="313" r:id="rId17"/>
    <p:sldId id="296" r:id="rId18"/>
    <p:sldId id="301" r:id="rId19"/>
    <p:sldId id="314" r:id="rId20"/>
    <p:sldId id="277" r:id="rId21"/>
    <p:sldId id="278" r:id="rId22"/>
    <p:sldId id="259" r:id="rId23"/>
  </p:sldIdLst>
  <p:sldSz cx="12192000" cy="6858000"/>
  <p:notesSz cx="6858000" cy="9144000"/>
  <p:embeddedFontLst>
    <p:embeddedFont>
      <p:font typeface="Libre Baskerville" panose="02000000000000000000" pitchFamily="2"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7"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3EBC8DE-2F06-5C12-EB24-6257663D4DDC}"/>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4649B495-318C-6EA6-39DC-D3299A5E07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CC600B18-A6BB-C08E-A738-E5352D45B8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42394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D67880E-3CD8-9F89-0433-0F436CA3A62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170CB7FA-28DB-A218-FC9F-15D9321F917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89FB3E8A-065B-3AC3-DFF9-440EAD53A6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64599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8E25A57D-AA3B-6132-DF87-33DF052B0BDC}"/>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0AFCBF69-7F3B-6EE9-5D6B-A87D0C7C366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007BB218-DC2A-D8AF-7EDB-025F485E81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0318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969B8AAD-57EE-EC4B-82BE-C1AE73B5FA45}"/>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16EDFFD-5F27-1F05-E99A-3DBAE693AD1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8180B100-7951-266C-E263-2A619E3D19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3939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4F306F8-FA99-9918-E8E2-2945EDA41B4C}"/>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DD8F20C-08B3-E63C-828E-596801D20DB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61A3AE8E-677D-CC23-974B-A91E18C0A0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75461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B20FA41-43A4-22E4-3D87-E2B22CED39D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4F525D1A-613F-DDCA-777A-5AE13069222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6AD6E19E-4012-98F9-DD72-9B6C987117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6679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64339459-AEB6-C1F4-DC54-D495D8853021}"/>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8D9E31A-E4E8-90CE-F82D-B8418F706C8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E86F4CCB-C726-3F0E-3D9B-136D5A57D3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50005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71D43B8-E515-000F-A7AF-2D0F1FF9DEF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B0D83074-4C53-E064-D542-378CB1023B4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3EA60943-AF84-753D-FFB8-6663F6A31B8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65581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D7CCCF0A-CC47-9705-24D3-31E88CAFCE7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8E770AFF-D06F-0E4B-3A44-60895DB9CCA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DCE399D6-801A-F305-8BB6-79C79C80D2D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0868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78F4469-4C56-86C9-FDA1-F2D0E1063AA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6FA61657-4EF6-9647-432F-E8CB5CFD066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C9C1CDE5-BAA0-9F35-B979-FDEA64E0079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1981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CF6F78D9-4C96-C5A9-36EF-6C84307C1EC5}"/>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BEAA464B-042E-34B3-FBB8-583B48D2AF2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15F32535-E816-25DF-66A4-4CC4426001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91084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9297012B-CB47-4958-624F-B081DDC2E39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99784C63-BFC1-2DA8-DF28-268FAE867BD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13113F8B-4C2F-8F0D-D4AA-BB11B2AB19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74212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bollapalli-vijaya-lakshmi"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github.com/Vijayalakshmibollapalli"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62287"/>
            <a:ext cx="12190815" cy="6694098"/>
          </a:xfrm>
          <a:prstGeom prst="rect">
            <a:avLst/>
          </a:prstGeom>
          <a:noFill/>
          <a:ln>
            <a:noFill/>
          </a:ln>
        </p:spPr>
      </p:pic>
      <p:sp>
        <p:nvSpPr>
          <p:cNvPr id="99" name="Google Shape;99;p1"/>
          <p:cNvSpPr txBox="1"/>
          <p:nvPr/>
        </p:nvSpPr>
        <p:spPr>
          <a:xfrm>
            <a:off x="2472904" y="3717986"/>
            <a:ext cx="8155767" cy="523180"/>
          </a:xfrm>
          <a:prstGeom prst="rect">
            <a:avLst/>
          </a:prstGeom>
          <a:noFill/>
          <a:ln>
            <a:noFill/>
          </a:ln>
        </p:spPr>
        <p:txBody>
          <a:bodyPr spcFirstLastPara="1" wrap="square" lIns="91425" tIns="45700" rIns="91425" bIns="45700" anchor="t" anchorCtr="0">
            <a:spAutoFit/>
          </a:bodyPr>
          <a:lstStyle/>
          <a:p>
            <a:pPr algn="ctr"/>
            <a:r>
              <a:rPr lang="en-IN" sz="2800" b="1" dirty="0">
                <a:latin typeface="Calibri" panose="020F0502020204030204" pitchFamily="34" charset="0"/>
                <a:ea typeface="Calibri" panose="020F0502020204030204" pitchFamily="34" charset="0"/>
                <a:cs typeface="Calibri" panose="020F0502020204030204" pitchFamily="34" charset="0"/>
              </a:rPr>
              <a:t>AI Healthcare Knowledge Assistant using Hybrid RAG</a:t>
            </a:r>
          </a:p>
        </p:txBody>
      </p:sp>
      <p:sp>
        <p:nvSpPr>
          <p:cNvPr id="4" name="TextBox 3">
            <a:extLst>
              <a:ext uri="{FF2B5EF4-FFF2-40B4-BE49-F238E27FC236}">
                <a16:creationId xmlns:a16="http://schemas.microsoft.com/office/drawing/2014/main" id="{9CD78F7C-5025-5C63-317E-C9A4D02A51DB}"/>
              </a:ext>
            </a:extLst>
          </p:cNvPr>
          <p:cNvSpPr txBox="1"/>
          <p:nvPr/>
        </p:nvSpPr>
        <p:spPr>
          <a:xfrm>
            <a:off x="8694593" y="5291459"/>
            <a:ext cx="2470935" cy="830997"/>
          </a:xfrm>
          <a:prstGeom prst="rect">
            <a:avLst/>
          </a:prstGeom>
          <a:noFill/>
        </p:spPr>
        <p:txBody>
          <a:bodyPr wrap="square" rtlCol="0">
            <a:spAutoFit/>
          </a:bodyPr>
          <a:lstStyle/>
          <a:p>
            <a:r>
              <a:rPr lang="en-US" sz="2400" b="1" dirty="0">
                <a:solidFill>
                  <a:srgbClr val="EE4247"/>
                </a:solidFill>
                <a:latin typeface="Calibri" panose="020F0502020204030204" pitchFamily="34" charset="0"/>
                <a:ea typeface="Calibri" panose="020F0502020204030204" pitchFamily="34" charset="0"/>
                <a:cs typeface="Calibri" panose="020F0502020204030204" pitchFamily="34" charset="0"/>
              </a:rPr>
              <a:t>Presented By:</a:t>
            </a:r>
          </a:p>
          <a:p>
            <a:r>
              <a:rPr lang="en-IN" sz="2400" b="1" dirty="0">
                <a:solidFill>
                  <a:schemeClr val="tx1"/>
                </a:solidFill>
                <a:latin typeface="Calibri" panose="020F0502020204030204" pitchFamily="34" charset="0"/>
                <a:ea typeface="Calibri" panose="020F0502020204030204" pitchFamily="34" charset="0"/>
                <a:cs typeface="Calibri" panose="020F0502020204030204" pitchFamily="34" charset="0"/>
              </a:rPr>
              <a:t>B Vijaya Lakshmi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497230" y="-70212"/>
            <a:ext cx="10515600" cy="1325563"/>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US" sz="4000" b="1" i="1" u="sng" dirty="0">
                <a:solidFill>
                  <a:srgbClr val="FF0000"/>
                </a:solidFill>
              </a:rPr>
              <a:t>About Me</a:t>
            </a:r>
            <a:endParaRPr sz="4000" b="1" i="1" u="sng" dirty="0">
              <a:solidFill>
                <a:srgbClr val="FF0000"/>
              </a:solidFill>
            </a:endParaRPr>
          </a:p>
        </p:txBody>
      </p:sp>
      <p:sp>
        <p:nvSpPr>
          <p:cNvPr id="111" name="Google Shape;111;p4"/>
          <p:cNvSpPr txBox="1">
            <a:spLocks noGrp="1"/>
          </p:cNvSpPr>
          <p:nvPr>
            <p:ph type="body" idx="1"/>
          </p:nvPr>
        </p:nvSpPr>
        <p:spPr>
          <a:xfrm>
            <a:off x="838200" y="971556"/>
            <a:ext cx="10515600" cy="4777234"/>
          </a:xfrm>
          <a:prstGeom prst="rect">
            <a:avLst/>
          </a:prstGeom>
          <a:noFill/>
          <a:ln>
            <a:noFill/>
          </a:ln>
        </p:spPr>
        <p:txBody>
          <a:bodyPr spcFirstLastPara="1" wrap="square" lIns="91425" tIns="45700" rIns="91425" bIns="45700" anchor="t" anchorCtr="0">
            <a:noAutofit/>
          </a:bodyPr>
          <a:lstStyle/>
          <a:p>
            <a:r>
              <a:rPr lang="en-IN" sz="2000" dirty="0"/>
              <a:t>I am a </a:t>
            </a:r>
            <a:r>
              <a:rPr lang="en-IN" sz="2000" b="1" dirty="0"/>
              <a:t>postgraduate in Data Science</a:t>
            </a:r>
            <a:r>
              <a:rPr lang="en-IN" sz="2000" dirty="0"/>
              <a:t> from </a:t>
            </a:r>
            <a:r>
              <a:rPr lang="en-IN" sz="2000" b="1" dirty="0" err="1"/>
              <a:t>Bankatlal</a:t>
            </a:r>
            <a:r>
              <a:rPr lang="en-IN" sz="2000" b="1" dirty="0"/>
              <a:t> </a:t>
            </a:r>
            <a:r>
              <a:rPr lang="en-IN" sz="2000" b="1" dirty="0" err="1"/>
              <a:t>Badruka</a:t>
            </a:r>
            <a:r>
              <a:rPr lang="en-IN" sz="2000" b="1" dirty="0"/>
              <a:t> College for Information Technology</a:t>
            </a:r>
            <a:r>
              <a:rPr lang="en-IN" sz="2000" dirty="0"/>
              <a:t>, with a strong interest in </a:t>
            </a:r>
            <a:r>
              <a:rPr lang="en-IN" sz="2000" b="1" dirty="0"/>
              <a:t>Data Science, Machine Learning, Artificial Intelligence, and Generative AI</a:t>
            </a:r>
            <a:r>
              <a:rPr lang="en-IN" sz="2000" dirty="0"/>
              <a:t>.</a:t>
            </a:r>
          </a:p>
          <a:p>
            <a:r>
              <a:rPr lang="en-IN" sz="2000" dirty="0"/>
              <a:t>I have hands-on experience with </a:t>
            </a:r>
            <a:r>
              <a:rPr lang="en-IN" sz="2000" b="1" dirty="0"/>
              <a:t>Python, SQL, Power BI, Machine Learning, Deep Learning, NLP, LLMs, RAG, </a:t>
            </a:r>
            <a:r>
              <a:rPr lang="en-IN" sz="2000" b="1" dirty="0" err="1"/>
              <a:t>LangChain</a:t>
            </a:r>
            <a:r>
              <a:rPr lang="en-IN" sz="2000" b="1" dirty="0"/>
              <a:t>, </a:t>
            </a:r>
            <a:r>
              <a:rPr lang="en-IN" sz="2000" b="1" dirty="0" err="1"/>
              <a:t>LangGraph</a:t>
            </a:r>
            <a:r>
              <a:rPr lang="en-IN" sz="2000" b="1" dirty="0"/>
              <a:t>, Agentic AI, MCP, and Prompt Engineering</a:t>
            </a:r>
            <a:r>
              <a:rPr lang="en-IN" sz="2000" dirty="0"/>
              <a:t>, along with data analysis and visualization.</a:t>
            </a:r>
          </a:p>
          <a:p>
            <a:r>
              <a:rPr lang="en-IN" sz="2000" dirty="0"/>
              <a:t>I enjoy building </a:t>
            </a:r>
            <a:r>
              <a:rPr lang="en-IN" sz="2000" b="1" dirty="0"/>
              <a:t>AI-powered and data-driven solutions</a:t>
            </a:r>
            <a:r>
              <a:rPr lang="en-IN" sz="2000" dirty="0"/>
              <a:t> using modern technologies to solve </a:t>
            </a:r>
            <a:r>
              <a:rPr lang="en-IN" sz="2000" b="1" dirty="0"/>
              <a:t>real-world business problems</a:t>
            </a:r>
            <a:r>
              <a:rPr lang="en-IN" sz="2000" dirty="0"/>
              <a:t>, automate tasks, and generate meaningful insights.</a:t>
            </a:r>
            <a:endParaRPr lang="en-US" sz="2000" dirty="0"/>
          </a:p>
          <a:p>
            <a:pPr algn="just">
              <a:buFont typeface="Wingdings" panose="05000000000000000000" pitchFamily="2" charset="2"/>
              <a:buChar char="§"/>
            </a:pPr>
            <a:r>
              <a:rPr lang="en-US" sz="2000" b="1" dirty="0"/>
              <a:t>LinkedIn:</a:t>
            </a:r>
            <a:r>
              <a:rPr lang="en-US" sz="2000" dirty="0"/>
              <a:t> </a:t>
            </a:r>
            <a:r>
              <a:rPr lang="en-US" sz="2000" dirty="0">
                <a:hlinkClick r:id="rId3"/>
              </a:rPr>
              <a:t>www.linkedin.com/in/bollapalli-vijaya-lakshmi</a:t>
            </a:r>
            <a:endParaRPr lang="en-US" sz="2000" dirty="0"/>
          </a:p>
          <a:p>
            <a:pPr marL="114300" indent="0" algn="just">
              <a:buNone/>
            </a:pPr>
            <a:endParaRPr lang="en-US" sz="200" dirty="0"/>
          </a:p>
          <a:p>
            <a:pPr algn="just">
              <a:buFont typeface="Wingdings" panose="05000000000000000000" pitchFamily="2" charset="2"/>
              <a:buChar char="§"/>
            </a:pPr>
            <a:r>
              <a:rPr lang="en-US" sz="2000" b="1" dirty="0"/>
              <a:t>GitHub: </a:t>
            </a:r>
            <a:r>
              <a:rPr lang="en-IN" sz="2000" dirty="0" err="1">
                <a:hlinkClick r:id="rId4"/>
              </a:rPr>
              <a:t>Vijayalakshmibollapalli</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287F7822-19A0-D583-3D65-3BD872A59CFD}"/>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F47C3651-263C-AA71-3CA6-C2F99742847F}"/>
              </a:ext>
            </a:extLst>
          </p:cNvPr>
          <p:cNvSpPr txBox="1">
            <a:spLocks noGrp="1"/>
          </p:cNvSpPr>
          <p:nvPr>
            <p:ph type="title"/>
          </p:nvPr>
        </p:nvSpPr>
        <p:spPr>
          <a:xfrm>
            <a:off x="366251" y="371554"/>
            <a:ext cx="10515600" cy="933604"/>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b="1" i="1" u="sng" dirty="0">
                <a:solidFill>
                  <a:srgbClr val="FF0000"/>
                </a:solidFill>
              </a:rPr>
              <a:t>Agenda</a:t>
            </a:r>
            <a:endParaRPr b="1" u="sng" dirty="0">
              <a:solidFill>
                <a:srgbClr val="FF0000"/>
              </a:solidFill>
            </a:endParaRPr>
          </a:p>
        </p:txBody>
      </p:sp>
      <p:sp>
        <p:nvSpPr>
          <p:cNvPr id="111" name="Google Shape;111;p4">
            <a:extLst>
              <a:ext uri="{FF2B5EF4-FFF2-40B4-BE49-F238E27FC236}">
                <a16:creationId xmlns:a16="http://schemas.microsoft.com/office/drawing/2014/main" id="{29E77C24-CA39-3909-23EE-05B45C02FA9D}"/>
              </a:ext>
            </a:extLst>
          </p:cNvPr>
          <p:cNvSpPr txBox="1">
            <a:spLocks noGrp="1"/>
          </p:cNvSpPr>
          <p:nvPr>
            <p:ph type="body" idx="1"/>
          </p:nvPr>
        </p:nvSpPr>
        <p:spPr>
          <a:xfrm>
            <a:off x="1359309" y="1415842"/>
            <a:ext cx="5181600" cy="4603802"/>
          </a:xfrm>
          <a:prstGeom prst="rect">
            <a:avLst/>
          </a:prstGeom>
          <a:noFill/>
          <a:ln>
            <a:noFill/>
          </a:ln>
        </p:spPr>
        <p:txBody>
          <a:bodyPr spcFirstLastPara="1" wrap="square" lIns="91425" tIns="45700" rIns="91425" bIns="45700" anchor="t" anchorCtr="0">
            <a:noAutofit/>
          </a:bodyPr>
          <a:lstStyle/>
          <a:p>
            <a:pPr algn="just">
              <a:buFont typeface="Wingdings" panose="05000000000000000000" pitchFamily="2" charset="2"/>
              <a:buChar char="§"/>
            </a:pPr>
            <a:r>
              <a:rPr lang="en-IN" sz="2000" b="1" dirty="0"/>
              <a:t>Introduction</a:t>
            </a:r>
          </a:p>
          <a:p>
            <a:pPr algn="just">
              <a:buFont typeface="Wingdings" panose="05000000000000000000" pitchFamily="2" charset="2"/>
              <a:buChar char="§"/>
            </a:pPr>
            <a:r>
              <a:rPr lang="en-IN" sz="2000" b="1" dirty="0"/>
              <a:t>Business Problem</a:t>
            </a:r>
          </a:p>
          <a:p>
            <a:pPr algn="just">
              <a:buFont typeface="Wingdings" panose="05000000000000000000" pitchFamily="2" charset="2"/>
              <a:buChar char="§"/>
            </a:pPr>
            <a:r>
              <a:rPr lang="en-IN" sz="2000" b="1" dirty="0"/>
              <a:t>LLM vs RAG</a:t>
            </a:r>
            <a:r>
              <a:rPr lang="en-IN" sz="2000" dirty="0"/>
              <a:t> </a:t>
            </a:r>
          </a:p>
          <a:p>
            <a:pPr algn="just">
              <a:buFont typeface="Wingdings" panose="05000000000000000000" pitchFamily="2" charset="2"/>
              <a:buChar char="§"/>
            </a:pPr>
            <a:r>
              <a:rPr lang="en-IN" sz="2000" b="1" dirty="0"/>
              <a:t>Why Do We Need RAG?</a:t>
            </a:r>
            <a:r>
              <a:rPr lang="en-IN" sz="2000" dirty="0"/>
              <a:t> </a:t>
            </a:r>
          </a:p>
          <a:p>
            <a:pPr algn="just">
              <a:buFont typeface="Wingdings" panose="05000000000000000000" pitchFamily="2" charset="2"/>
              <a:buChar char="§"/>
            </a:pPr>
            <a:r>
              <a:rPr lang="en-IN" sz="2000" b="1" dirty="0"/>
              <a:t>System Workflow</a:t>
            </a:r>
            <a:r>
              <a:rPr lang="en-IN" sz="2000" dirty="0"/>
              <a:t> </a:t>
            </a:r>
          </a:p>
          <a:p>
            <a:pPr algn="just">
              <a:buFont typeface="Wingdings" panose="05000000000000000000" pitchFamily="2" charset="2"/>
              <a:buChar char="§"/>
            </a:pPr>
            <a:r>
              <a:rPr lang="en-IN" sz="2000" b="1" dirty="0"/>
              <a:t>Dataset &amp; Knowledge Base</a:t>
            </a:r>
            <a:r>
              <a:rPr lang="en-IN" sz="2000" dirty="0"/>
              <a:t> </a:t>
            </a:r>
          </a:p>
          <a:p>
            <a:pPr algn="just">
              <a:buFont typeface="Wingdings" panose="05000000000000000000" pitchFamily="2" charset="2"/>
              <a:buChar char="§"/>
            </a:pPr>
            <a:r>
              <a:rPr lang="en-IN" sz="2000" b="1" dirty="0"/>
              <a:t>Data Preparation (Offline Indexing)</a:t>
            </a:r>
            <a:endParaRPr lang="en-IN" sz="2000" b="1" dirty="0">
              <a:latin typeface="Times New Roman" panose="02020603050405020304" pitchFamily="18" charset="0"/>
              <a:cs typeface="Times New Roman" panose="02020603050405020304" pitchFamily="18" charset="0"/>
            </a:endParaRPr>
          </a:p>
        </p:txBody>
      </p:sp>
      <p:sp>
        <p:nvSpPr>
          <p:cNvPr id="2" name="Text Placeholder 1">
            <a:extLst>
              <a:ext uri="{FF2B5EF4-FFF2-40B4-BE49-F238E27FC236}">
                <a16:creationId xmlns:a16="http://schemas.microsoft.com/office/drawing/2014/main" id="{4202B42F-5511-C2D3-C895-6B3E2EFA79A0}"/>
              </a:ext>
            </a:extLst>
          </p:cNvPr>
          <p:cNvSpPr>
            <a:spLocks noGrp="1"/>
          </p:cNvSpPr>
          <p:nvPr>
            <p:ph type="body" idx="2"/>
          </p:nvPr>
        </p:nvSpPr>
        <p:spPr>
          <a:xfrm>
            <a:off x="6567948" y="1415842"/>
            <a:ext cx="4785852" cy="4906297"/>
          </a:xfrm>
        </p:spPr>
        <p:txBody>
          <a:bodyPr>
            <a:normAutofit/>
          </a:bodyPr>
          <a:lstStyle/>
          <a:p>
            <a:pPr>
              <a:buFont typeface="Wingdings" panose="05000000000000000000" pitchFamily="2" charset="2"/>
              <a:buChar char="§"/>
            </a:pPr>
            <a:r>
              <a:rPr lang="en-IN" sz="2000" b="1" dirty="0"/>
              <a:t>Hybrid Retrieval Pipeline</a:t>
            </a:r>
            <a:r>
              <a:rPr lang="en-IN" sz="2000" dirty="0"/>
              <a:t> </a:t>
            </a:r>
          </a:p>
          <a:p>
            <a:pPr>
              <a:buFont typeface="Wingdings" panose="05000000000000000000" pitchFamily="2" charset="2"/>
              <a:buChar char="§"/>
            </a:pPr>
            <a:r>
              <a:rPr lang="en-IN" sz="2000" b="1" dirty="0"/>
              <a:t>LLM Response Generation</a:t>
            </a:r>
            <a:r>
              <a:rPr lang="en-IN" sz="2000" dirty="0"/>
              <a:t> </a:t>
            </a:r>
          </a:p>
          <a:p>
            <a:pPr>
              <a:buFont typeface="Wingdings" panose="05000000000000000000" pitchFamily="2" charset="2"/>
              <a:buChar char="§"/>
            </a:pPr>
            <a:r>
              <a:rPr lang="en-IN" sz="2000" b="1" dirty="0"/>
              <a:t>Performance Evaluation (RAGAS)</a:t>
            </a:r>
            <a:r>
              <a:rPr lang="en-IN" sz="2000" dirty="0"/>
              <a:t> </a:t>
            </a:r>
          </a:p>
          <a:p>
            <a:pPr>
              <a:buFont typeface="Wingdings" panose="05000000000000000000" pitchFamily="2" charset="2"/>
              <a:buChar char="§"/>
            </a:pPr>
            <a:r>
              <a:rPr lang="en-IN" sz="2000" b="1" dirty="0"/>
              <a:t>Results</a:t>
            </a:r>
            <a:endParaRPr lang="en-IN" sz="2000" dirty="0"/>
          </a:p>
          <a:p>
            <a:pPr>
              <a:buFont typeface="Wingdings" panose="05000000000000000000" pitchFamily="2" charset="2"/>
              <a:buChar char="§"/>
            </a:pPr>
            <a:r>
              <a:rPr lang="en-IN" sz="2000" b="1" dirty="0"/>
              <a:t>Advantages &amp; Limitations</a:t>
            </a:r>
            <a:r>
              <a:rPr lang="en-IN" sz="2000" dirty="0"/>
              <a:t> </a:t>
            </a:r>
          </a:p>
          <a:p>
            <a:pPr>
              <a:buFont typeface="Wingdings" panose="05000000000000000000" pitchFamily="2" charset="2"/>
              <a:buChar char="§"/>
            </a:pPr>
            <a:r>
              <a:rPr lang="en-IN" sz="2000" b="1" dirty="0"/>
              <a:t>Future Enhancements</a:t>
            </a:r>
            <a:r>
              <a:rPr lang="en-IN" sz="2000" dirty="0"/>
              <a:t> </a:t>
            </a:r>
          </a:p>
          <a:p>
            <a:pPr>
              <a:buFont typeface="Wingdings" panose="05000000000000000000" pitchFamily="2" charset="2"/>
              <a:buChar char="§"/>
            </a:pPr>
            <a:r>
              <a:rPr lang="en-IN" sz="2000" b="1" dirty="0"/>
              <a:t>Conclusion</a:t>
            </a:r>
            <a:endParaRPr lang="en-IN" sz="2000" dirty="0"/>
          </a:p>
        </p:txBody>
      </p:sp>
    </p:spTree>
    <p:extLst>
      <p:ext uri="{BB962C8B-B14F-4D97-AF65-F5344CB8AC3E}">
        <p14:creationId xmlns:p14="http://schemas.microsoft.com/office/powerpoint/2010/main" val="3316604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A7D4628A-B3C8-48A0-EC14-EEAE5A551B79}"/>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BF32FB12-DC9B-078A-2D00-6C092D754440}"/>
              </a:ext>
            </a:extLst>
          </p:cNvPr>
          <p:cNvSpPr txBox="1">
            <a:spLocks noGrp="1"/>
          </p:cNvSpPr>
          <p:nvPr>
            <p:ph type="title"/>
          </p:nvPr>
        </p:nvSpPr>
        <p:spPr>
          <a:xfrm>
            <a:off x="514306" y="376990"/>
            <a:ext cx="10515600" cy="669980"/>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rPr>
              <a:t>Introduction</a:t>
            </a:r>
            <a:endParaRPr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11" name="Google Shape;111;p4">
            <a:extLst>
              <a:ext uri="{FF2B5EF4-FFF2-40B4-BE49-F238E27FC236}">
                <a16:creationId xmlns:a16="http://schemas.microsoft.com/office/drawing/2014/main" id="{15DB0F24-8BE8-9A58-7DFB-5807988488CB}"/>
              </a:ext>
            </a:extLst>
          </p:cNvPr>
          <p:cNvSpPr txBox="1">
            <a:spLocks noGrp="1"/>
          </p:cNvSpPr>
          <p:nvPr>
            <p:ph type="body" idx="1"/>
          </p:nvPr>
        </p:nvSpPr>
        <p:spPr>
          <a:xfrm>
            <a:off x="651387" y="1183020"/>
            <a:ext cx="10515600" cy="4993189"/>
          </a:xfrm>
          <a:prstGeom prst="rect">
            <a:avLst/>
          </a:prstGeom>
          <a:noFill/>
          <a:ln>
            <a:noFill/>
          </a:ln>
        </p:spPr>
        <p:txBody>
          <a:bodyPr spcFirstLastPara="1" wrap="square" lIns="91425" tIns="45700" rIns="91425" bIns="45700" anchor="t" anchorCtr="0">
            <a:noAutofit/>
          </a:bodyPr>
          <a:lstStyle/>
          <a:p>
            <a:pPr algn="just">
              <a:buFont typeface="Wingdings" panose="05000000000000000000" pitchFamily="2" charset="2"/>
              <a:buChar char="§"/>
            </a:pPr>
            <a:r>
              <a:rPr lang="en-IN" sz="2000" dirty="0"/>
              <a:t>Healthcare information is spread across numerous medical research papers, making it difficult to quickly access accurate and reliable answers. General Large Language Models (LLMs) may generate incorrect or unsupported medical information due to hallucinations and outdated knowledge.</a:t>
            </a:r>
          </a:p>
          <a:p>
            <a:pPr marL="114300" indent="0" algn="just">
              <a:buNone/>
            </a:pPr>
            <a:endParaRPr lang="en-IN" sz="100" dirty="0"/>
          </a:p>
          <a:p>
            <a:pPr algn="just">
              <a:buFont typeface="Wingdings" panose="05000000000000000000" pitchFamily="2" charset="2"/>
              <a:buChar char="§"/>
            </a:pPr>
            <a:r>
              <a:rPr lang="en-IN" sz="2000" dirty="0"/>
              <a:t>This project develops an </a:t>
            </a:r>
            <a:r>
              <a:rPr lang="en-IN" sz="2000" b="1" dirty="0"/>
              <a:t>AI-Powered Healthcare Knowledge Assistant</a:t>
            </a:r>
            <a:r>
              <a:rPr lang="en-IN" sz="2000" dirty="0"/>
              <a:t> using </a:t>
            </a:r>
            <a:r>
              <a:rPr lang="en-IN" sz="2000" b="1" dirty="0"/>
              <a:t>Hybrid Retrieval-Augmented Generation (Hybrid RAG)</a:t>
            </a:r>
            <a:r>
              <a:rPr lang="en-IN" sz="2000" dirty="0"/>
              <a:t>. It combines </a:t>
            </a:r>
            <a:r>
              <a:rPr lang="en-IN" sz="2000" b="1" dirty="0"/>
              <a:t>BM25 keyword search</a:t>
            </a:r>
            <a:r>
              <a:rPr lang="en-IN" sz="2000" dirty="0"/>
              <a:t>, </a:t>
            </a:r>
            <a:r>
              <a:rPr lang="en-IN" sz="2000" b="1" dirty="0"/>
              <a:t>MMR semantic retrieval</a:t>
            </a:r>
            <a:r>
              <a:rPr lang="en-IN" sz="2000" dirty="0"/>
              <a:t>, </a:t>
            </a:r>
            <a:r>
              <a:rPr lang="en-IN" sz="2000" b="1" dirty="0" err="1"/>
              <a:t>HyDE</a:t>
            </a:r>
            <a:r>
              <a:rPr lang="en-IN" sz="2000" b="1" dirty="0"/>
              <a:t> query expansion</a:t>
            </a:r>
            <a:r>
              <a:rPr lang="en-IN" sz="2000" dirty="0"/>
              <a:t>, </a:t>
            </a:r>
            <a:r>
              <a:rPr lang="en-IN" sz="2000" b="1" dirty="0"/>
              <a:t>Context Compression</a:t>
            </a:r>
            <a:r>
              <a:rPr lang="en-IN" sz="2000" dirty="0"/>
              <a:t>, and the </a:t>
            </a:r>
            <a:r>
              <a:rPr lang="en-IN" sz="2000" b="1" dirty="0" err="1"/>
              <a:t>Groq</a:t>
            </a:r>
            <a:r>
              <a:rPr lang="en-IN" sz="2000" b="1" dirty="0"/>
              <a:t> </a:t>
            </a:r>
            <a:r>
              <a:rPr lang="en-IN" sz="2000" b="1" dirty="0" err="1"/>
              <a:t>openai</a:t>
            </a:r>
            <a:r>
              <a:rPr lang="en-IN" sz="2000" b="1" dirty="0"/>
              <a:t>/gpt-oss-20b </a:t>
            </a:r>
            <a:r>
              <a:rPr lang="en-IN" sz="2000" dirty="0"/>
              <a:t>model to generate evidence-based answers from trusted medical documents.</a:t>
            </a:r>
          </a:p>
          <a:p>
            <a:pPr marL="114300" indent="0" algn="just">
              <a:buNone/>
            </a:pPr>
            <a:endParaRPr lang="en-IN" sz="100" dirty="0"/>
          </a:p>
          <a:p>
            <a:pPr>
              <a:buNone/>
            </a:pPr>
            <a:r>
              <a:rPr lang="en-IN" sz="2000" b="1" dirty="0">
                <a:latin typeface="Calibri" panose="020F0502020204030204" pitchFamily="34" charset="0"/>
                <a:ea typeface="Calibri" panose="020F0502020204030204" pitchFamily="34" charset="0"/>
                <a:cs typeface="Calibri" panose="020F0502020204030204" pitchFamily="34" charset="0"/>
              </a:rPr>
              <a:t>      Technologies: </a:t>
            </a:r>
            <a:r>
              <a:rPr lang="en-IN" sz="2000" dirty="0">
                <a:latin typeface="Calibri" panose="020F0502020204030204" pitchFamily="34" charset="0"/>
                <a:ea typeface="Calibri" panose="020F0502020204030204" pitchFamily="34" charset="0"/>
                <a:cs typeface="Calibri" panose="020F0502020204030204" pitchFamily="34" charset="0"/>
              </a:rPr>
              <a:t>Python, </a:t>
            </a:r>
            <a:r>
              <a:rPr lang="en-IN" sz="2000" dirty="0" err="1">
                <a:latin typeface="Calibri" panose="020F0502020204030204" pitchFamily="34" charset="0"/>
                <a:ea typeface="Calibri" panose="020F0502020204030204" pitchFamily="34" charset="0"/>
                <a:cs typeface="Calibri" panose="020F0502020204030204" pitchFamily="34" charset="0"/>
              </a:rPr>
              <a:t>LangChain</a:t>
            </a:r>
            <a:r>
              <a:rPr lang="en-IN" sz="2000" dirty="0">
                <a:latin typeface="Calibri" panose="020F0502020204030204" pitchFamily="34" charset="0"/>
                <a:ea typeface="Calibri" panose="020F0502020204030204" pitchFamily="34" charset="0"/>
                <a:cs typeface="Calibri" panose="020F0502020204030204" pitchFamily="34" charset="0"/>
              </a:rPr>
              <a:t>, </a:t>
            </a:r>
            <a:r>
              <a:rPr lang="en-IN" sz="2000" dirty="0" err="1">
                <a:latin typeface="Calibri" panose="020F0502020204030204" pitchFamily="34" charset="0"/>
                <a:ea typeface="Calibri" panose="020F0502020204030204" pitchFamily="34" charset="0"/>
                <a:cs typeface="Calibri" panose="020F0502020204030204" pitchFamily="34" charset="0"/>
              </a:rPr>
              <a:t>ChromaDB</a:t>
            </a:r>
            <a:r>
              <a:rPr lang="en-IN" sz="2000" dirty="0">
                <a:latin typeface="Calibri" panose="020F0502020204030204" pitchFamily="34" charset="0"/>
                <a:ea typeface="Calibri" panose="020F0502020204030204" pitchFamily="34" charset="0"/>
                <a:cs typeface="Calibri" panose="020F0502020204030204" pitchFamily="34" charset="0"/>
              </a:rPr>
              <a:t>, </a:t>
            </a:r>
            <a:r>
              <a:rPr lang="en-IN" sz="2000" dirty="0" err="1">
                <a:latin typeface="Calibri" panose="020F0502020204030204" pitchFamily="34" charset="0"/>
                <a:ea typeface="Calibri" panose="020F0502020204030204" pitchFamily="34" charset="0"/>
                <a:cs typeface="Calibri" panose="020F0502020204030204" pitchFamily="34" charset="0"/>
              </a:rPr>
              <a:t>HuggingFace</a:t>
            </a:r>
            <a:r>
              <a:rPr lang="en-IN" sz="2000" dirty="0">
                <a:latin typeface="Calibri" panose="020F0502020204030204" pitchFamily="34" charset="0"/>
                <a:ea typeface="Calibri" panose="020F0502020204030204" pitchFamily="34" charset="0"/>
                <a:cs typeface="Calibri" panose="020F0502020204030204" pitchFamily="34" charset="0"/>
              </a:rPr>
              <a:t> Embeddings, </a:t>
            </a:r>
            <a:r>
              <a:rPr lang="en-IN" sz="2000" dirty="0" err="1">
                <a:latin typeface="Calibri" panose="020F0502020204030204" pitchFamily="34" charset="0"/>
                <a:ea typeface="Calibri" panose="020F0502020204030204" pitchFamily="34" charset="0"/>
                <a:cs typeface="Calibri" panose="020F0502020204030204" pitchFamily="34" charset="0"/>
              </a:rPr>
              <a:t>Groq</a:t>
            </a:r>
            <a:r>
              <a:rPr lang="en-IN" sz="2000" dirty="0">
                <a:latin typeface="Calibri" panose="020F0502020204030204" pitchFamily="34" charset="0"/>
                <a:ea typeface="Calibri" panose="020F0502020204030204" pitchFamily="34" charset="0"/>
                <a:cs typeface="Calibri" panose="020F0502020204030204" pitchFamily="34" charset="0"/>
              </a:rPr>
              <a:t> LLM, </a:t>
            </a:r>
            <a:r>
              <a:rPr lang="en-IN" sz="2000" dirty="0" err="1">
                <a:latin typeface="Calibri" panose="020F0502020204030204" pitchFamily="34" charset="0"/>
                <a:ea typeface="Calibri" panose="020F0502020204030204" pitchFamily="34" charset="0"/>
                <a:cs typeface="Calibri" panose="020F0502020204030204" pitchFamily="34" charset="0"/>
              </a:rPr>
              <a:t>Streamlit</a:t>
            </a:r>
            <a:r>
              <a:rPr lang="en-IN" sz="2000"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675035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6B9285A-0F35-DCB0-E1AD-C9BA7DA83CDF}"/>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4D5FDAD-3B92-DE50-844A-CA7A921CF7C0}"/>
              </a:ext>
            </a:extLst>
          </p:cNvPr>
          <p:cNvSpPr txBox="1">
            <a:spLocks noGrp="1"/>
          </p:cNvSpPr>
          <p:nvPr>
            <p:ph type="title"/>
          </p:nvPr>
        </p:nvSpPr>
        <p:spPr>
          <a:xfrm>
            <a:off x="553635" y="308087"/>
            <a:ext cx="10515600" cy="669980"/>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rPr>
              <a:t>Business Problem</a:t>
            </a:r>
            <a:endParaRPr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11" name="Google Shape;111;p4">
            <a:extLst>
              <a:ext uri="{FF2B5EF4-FFF2-40B4-BE49-F238E27FC236}">
                <a16:creationId xmlns:a16="http://schemas.microsoft.com/office/drawing/2014/main" id="{9349F490-39C4-6090-8CFD-CE2C1C7BA217}"/>
              </a:ext>
            </a:extLst>
          </p:cNvPr>
          <p:cNvSpPr txBox="1">
            <a:spLocks noGrp="1"/>
          </p:cNvSpPr>
          <p:nvPr>
            <p:ph type="body" idx="1"/>
          </p:nvPr>
        </p:nvSpPr>
        <p:spPr>
          <a:xfrm>
            <a:off x="775251" y="1072731"/>
            <a:ext cx="10934968" cy="5477181"/>
          </a:xfrm>
          <a:prstGeom prst="rect">
            <a:avLst/>
          </a:prstGeom>
          <a:noFill/>
          <a:ln>
            <a:noFill/>
          </a:ln>
        </p:spPr>
        <p:txBody>
          <a:bodyPr spcFirstLastPara="1" wrap="square" lIns="91425" tIns="45700" rIns="91425" bIns="45700" anchor="t" anchorCtr="0">
            <a:noAutofit/>
          </a:bodyPr>
          <a:lstStyle/>
          <a:p>
            <a:pPr marL="114300" indent="0" algn="just">
              <a:buNone/>
            </a:pPr>
            <a:r>
              <a:rPr lang="en-IN" sz="2000" dirty="0"/>
              <a:t>Healthcare information is distributed across numerous medical journals, clinical guidelines, and research papers, making it difficult for users to quickly access reliable information. Traditional search engines often return lengthy documents instead of precise answers, while general Large Language Models (LLMs) may generate inaccurate or unsupported medical responses due to hallucinations. This creates a need for an intelligent system that can retrieve relevant medical evidence and generate trustworthy, context-based answers.</a:t>
            </a:r>
          </a:p>
          <a:p>
            <a:pPr marL="114300" indent="0" algn="just">
              <a:buNone/>
            </a:pPr>
            <a:endParaRPr lang="en-IN" sz="500" dirty="0"/>
          </a:p>
          <a:p>
            <a:pPr marL="114300" indent="0" algn="just">
              <a:buNone/>
            </a:pPr>
            <a:r>
              <a:rPr lang="en-IN" sz="2000" b="1" dirty="0"/>
              <a:t>Key Challenges</a:t>
            </a:r>
          </a:p>
          <a:p>
            <a:pPr algn="just"/>
            <a:r>
              <a:rPr lang="en-IN" sz="2000" dirty="0"/>
              <a:t>Medical information is scattered across multiple research documents. </a:t>
            </a:r>
          </a:p>
          <a:p>
            <a:pPr algn="just"/>
            <a:r>
              <a:rPr lang="en-IN" sz="2000" dirty="0"/>
              <a:t>Searching and reading large documents is time-consuming. </a:t>
            </a:r>
          </a:p>
          <a:p>
            <a:pPr algn="just"/>
            <a:r>
              <a:rPr lang="en-IN" sz="2000" dirty="0"/>
              <a:t>LLMs may produce hallucinated or outdated medical information. </a:t>
            </a:r>
          </a:p>
          <a:p>
            <a:pPr algn="just"/>
            <a:r>
              <a:rPr lang="en-IN" sz="2000" dirty="0"/>
              <a:t>Responses often lack supporting evidence or references. </a:t>
            </a:r>
          </a:p>
          <a:p>
            <a:pPr algn="just"/>
            <a:r>
              <a:rPr lang="en-IN" sz="2000" dirty="0"/>
              <a:t>Reliable healthcare information is essential for informed decision-making. </a:t>
            </a:r>
          </a:p>
        </p:txBody>
      </p:sp>
    </p:spTree>
    <p:extLst>
      <p:ext uri="{BB962C8B-B14F-4D97-AF65-F5344CB8AC3E}">
        <p14:creationId xmlns:p14="http://schemas.microsoft.com/office/powerpoint/2010/main" val="276248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EDCC52A-163A-DCCE-A725-2BCB225A0ACE}"/>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175F207C-41A6-F2E2-E389-FB8D606529FB}"/>
              </a:ext>
            </a:extLst>
          </p:cNvPr>
          <p:cNvSpPr txBox="1">
            <a:spLocks noGrp="1"/>
          </p:cNvSpPr>
          <p:nvPr>
            <p:ph type="body" idx="1"/>
          </p:nvPr>
        </p:nvSpPr>
        <p:spPr>
          <a:xfrm>
            <a:off x="614516" y="1061884"/>
            <a:ext cx="10962968" cy="5453014"/>
          </a:xfrm>
          <a:prstGeom prst="rect">
            <a:avLst/>
          </a:prstGeom>
          <a:noFill/>
          <a:ln>
            <a:noFill/>
          </a:ln>
        </p:spPr>
        <p:txBody>
          <a:bodyPr spcFirstLastPara="1" wrap="square" lIns="91425" tIns="45700" rIns="91425" bIns="45700" anchor="t" anchorCtr="0">
            <a:noAutofit/>
          </a:bodyPr>
          <a:lstStyle/>
          <a:p>
            <a:pPr marL="114300" indent="0" algn="just">
              <a:buNone/>
            </a:pPr>
            <a:r>
              <a:rPr lang="en-IN" sz="2000" dirty="0"/>
              <a:t>A Large Language Model (LLM) is an AI model trained on vast amounts of text data to understand and generate human-like language. It predicts the next word in a sequence, enabling it to answer questions, summarize text, translate languages, and perform many other language tasks.</a:t>
            </a:r>
          </a:p>
          <a:p>
            <a:pPr marL="114300" indent="0" algn="just">
              <a:buNone/>
            </a:pPr>
            <a:r>
              <a:rPr lang="en-IN" sz="2000" b="1" dirty="0"/>
              <a:t>Examples</a:t>
            </a:r>
          </a:p>
          <a:p>
            <a:pPr algn="just"/>
            <a:r>
              <a:rPr lang="en-IN" sz="2000" dirty="0"/>
              <a:t>ChatGPT </a:t>
            </a:r>
          </a:p>
          <a:p>
            <a:pPr algn="just"/>
            <a:r>
              <a:rPr lang="en-IN" sz="2000" dirty="0"/>
              <a:t>Gemini </a:t>
            </a:r>
          </a:p>
          <a:p>
            <a:pPr algn="just"/>
            <a:r>
              <a:rPr lang="en-IN" sz="2000" dirty="0"/>
              <a:t>Claude </a:t>
            </a:r>
          </a:p>
          <a:p>
            <a:pPr algn="just"/>
            <a:r>
              <a:rPr lang="en-IN" sz="2000" dirty="0"/>
              <a:t>Llama </a:t>
            </a:r>
          </a:p>
          <a:p>
            <a:pPr marL="114300" indent="0" algn="just">
              <a:buNone/>
            </a:pPr>
            <a:r>
              <a:rPr lang="en-IN" sz="2000" b="1" dirty="0"/>
              <a:t>Advantages</a:t>
            </a:r>
          </a:p>
          <a:p>
            <a:pPr algn="just"/>
            <a:r>
              <a:rPr lang="en-IN" sz="2000" dirty="0"/>
              <a:t>Generates fluent and natural responses. </a:t>
            </a:r>
          </a:p>
          <a:p>
            <a:pPr algn="just"/>
            <a:r>
              <a:rPr lang="en-IN" sz="2000" dirty="0"/>
              <a:t>Supports multiple NLP tasks. </a:t>
            </a:r>
          </a:p>
          <a:p>
            <a:pPr algn="just"/>
            <a:r>
              <a:rPr lang="en-IN" sz="2000" dirty="0"/>
              <a:t>Understands natural language queries. </a:t>
            </a:r>
          </a:p>
          <a:p>
            <a:pPr algn="just"/>
            <a:r>
              <a:rPr lang="en-IN" sz="2000" dirty="0"/>
              <a:t>Fast response generation. </a:t>
            </a:r>
          </a:p>
        </p:txBody>
      </p:sp>
      <p:sp>
        <p:nvSpPr>
          <p:cNvPr id="3" name="Title 2">
            <a:extLst>
              <a:ext uri="{FF2B5EF4-FFF2-40B4-BE49-F238E27FC236}">
                <a16:creationId xmlns:a16="http://schemas.microsoft.com/office/drawing/2014/main" id="{318AB3C4-E8A7-9FA9-BB66-DD5A1FDB330E}"/>
              </a:ext>
            </a:extLst>
          </p:cNvPr>
          <p:cNvSpPr>
            <a:spLocks noGrp="1"/>
          </p:cNvSpPr>
          <p:nvPr>
            <p:ph type="title"/>
          </p:nvPr>
        </p:nvSpPr>
        <p:spPr>
          <a:xfrm>
            <a:off x="838200" y="365125"/>
            <a:ext cx="10515600" cy="696759"/>
          </a:xfrm>
        </p:spPr>
        <p:txBody>
          <a:bodyPr>
            <a:normAutofit/>
          </a:bodyPr>
          <a:lstStyle/>
          <a:p>
            <a:pPr algn="ctr"/>
            <a:r>
              <a:rPr lang="en-IN" sz="3200" b="1" i="1" u="sng" dirty="0">
                <a:solidFill>
                  <a:srgbClr val="FF0000"/>
                </a:solidFill>
              </a:rPr>
              <a:t>Large Language Model (LLM)?</a:t>
            </a:r>
            <a:endParaRPr lang="en-IN" sz="3200" i="1" u="sng" dirty="0">
              <a:solidFill>
                <a:srgbClr val="FF0000"/>
              </a:solidFill>
            </a:endParaRPr>
          </a:p>
        </p:txBody>
      </p:sp>
    </p:spTree>
    <p:extLst>
      <p:ext uri="{BB962C8B-B14F-4D97-AF65-F5344CB8AC3E}">
        <p14:creationId xmlns:p14="http://schemas.microsoft.com/office/powerpoint/2010/main" val="122382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075ED-CA77-73B5-87FA-B8AC66E1CAA4}"/>
              </a:ext>
            </a:extLst>
          </p:cNvPr>
          <p:cNvSpPr>
            <a:spLocks noGrp="1"/>
          </p:cNvSpPr>
          <p:nvPr>
            <p:ph type="title"/>
          </p:nvPr>
        </p:nvSpPr>
        <p:spPr>
          <a:xfrm>
            <a:off x="838200" y="365125"/>
            <a:ext cx="10515600" cy="706591"/>
          </a:xfrm>
        </p:spPr>
        <p:txBody>
          <a:bodyPr>
            <a:normAutofit/>
          </a:bodyPr>
          <a:lstStyle/>
          <a:p>
            <a:pPr algn="ctr"/>
            <a:r>
              <a:rPr lang="en-IN" sz="3200" b="1" i="1" u="sng" dirty="0">
                <a:solidFill>
                  <a:srgbClr val="FF0000"/>
                </a:solidFill>
              </a:rPr>
              <a:t>Issues with LLM</a:t>
            </a:r>
          </a:p>
        </p:txBody>
      </p:sp>
      <p:sp>
        <p:nvSpPr>
          <p:cNvPr id="3" name="Text Placeholder 2">
            <a:extLst>
              <a:ext uri="{FF2B5EF4-FFF2-40B4-BE49-F238E27FC236}">
                <a16:creationId xmlns:a16="http://schemas.microsoft.com/office/drawing/2014/main" id="{0C0A720D-F72D-F232-3ADC-F07956FEE450}"/>
              </a:ext>
            </a:extLst>
          </p:cNvPr>
          <p:cNvSpPr>
            <a:spLocks noGrp="1"/>
          </p:cNvSpPr>
          <p:nvPr>
            <p:ph type="body" idx="1"/>
          </p:nvPr>
        </p:nvSpPr>
        <p:spPr>
          <a:xfrm>
            <a:off x="838200" y="1253331"/>
            <a:ext cx="10515600" cy="4351338"/>
          </a:xfrm>
        </p:spPr>
        <p:txBody>
          <a:bodyPr>
            <a:normAutofit/>
          </a:bodyPr>
          <a:lstStyle/>
          <a:p>
            <a:pPr marL="114300" indent="0" algn="just">
              <a:buNone/>
            </a:pPr>
            <a:r>
              <a:rPr lang="en-IN" sz="2000" dirty="0"/>
              <a:t>Although LLMs are powerful, they have inherent limitations because they rely primarily on their pretrained knowledge.</a:t>
            </a:r>
          </a:p>
          <a:p>
            <a:pPr marL="114300" indent="0" algn="just">
              <a:buNone/>
            </a:pPr>
            <a:endParaRPr lang="en-IN" sz="500" b="1" dirty="0"/>
          </a:p>
          <a:p>
            <a:pPr marL="114300" indent="0" algn="just">
              <a:buNone/>
            </a:pPr>
            <a:r>
              <a:rPr lang="en-IN" sz="2000" b="1" dirty="0"/>
              <a:t>Key Issues</a:t>
            </a:r>
            <a:endParaRPr lang="en-IN" sz="2000" dirty="0"/>
          </a:p>
          <a:p>
            <a:pPr algn="just">
              <a:buFont typeface="Wingdings" panose="05000000000000000000" pitchFamily="2" charset="2"/>
              <a:buChar char="§"/>
            </a:pPr>
            <a:r>
              <a:rPr lang="en-IN" sz="2000" dirty="0"/>
              <a:t>Can generate incorrect or fabricated information (hallucinations). </a:t>
            </a:r>
          </a:p>
          <a:p>
            <a:pPr algn="just">
              <a:buFont typeface="Wingdings" panose="05000000000000000000" pitchFamily="2" charset="2"/>
              <a:buChar char="§"/>
            </a:pPr>
            <a:r>
              <a:rPr lang="en-IN" sz="2000" dirty="0"/>
              <a:t>Knowledge is limited to the data used during training and may become outdated. </a:t>
            </a:r>
          </a:p>
          <a:p>
            <a:pPr algn="just">
              <a:buFont typeface="Wingdings" panose="05000000000000000000" pitchFamily="2" charset="2"/>
              <a:buChar char="§"/>
            </a:pPr>
            <a:r>
              <a:rPr lang="en-IN" sz="2000" dirty="0"/>
              <a:t>Cannot access newly published information automatically. </a:t>
            </a:r>
          </a:p>
          <a:p>
            <a:pPr algn="just">
              <a:buFont typeface="Wingdings" panose="05000000000000000000" pitchFamily="2" charset="2"/>
              <a:buChar char="§"/>
            </a:pPr>
            <a:r>
              <a:rPr lang="en-IN" sz="2000" dirty="0"/>
              <a:t>Do not inherently provide evidence responses. </a:t>
            </a:r>
          </a:p>
          <a:p>
            <a:pPr marL="114300" indent="0" algn="just">
              <a:buNone/>
            </a:pPr>
            <a:endParaRPr lang="en-IN" sz="500" dirty="0"/>
          </a:p>
          <a:p>
            <a:pPr marL="114300" indent="0" algn="just">
              <a:buNone/>
            </a:pPr>
            <a:r>
              <a:rPr lang="en-IN" sz="2000" b="1" dirty="0"/>
              <a:t>Example</a:t>
            </a:r>
          </a:p>
          <a:p>
            <a:pPr marL="114300" indent="0" algn="just">
              <a:buNone/>
            </a:pPr>
            <a:r>
              <a:rPr lang="en-IN" sz="2000" dirty="0"/>
              <a:t>An LLM may answer a healthcare question confidently, even if the information is outdated or incorrect.</a:t>
            </a:r>
          </a:p>
        </p:txBody>
      </p:sp>
    </p:spTree>
    <p:extLst>
      <p:ext uri="{BB962C8B-B14F-4D97-AF65-F5344CB8AC3E}">
        <p14:creationId xmlns:p14="http://schemas.microsoft.com/office/powerpoint/2010/main" val="49042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6CAA6-21ED-23A8-7F00-4B6A27DA9C75}"/>
              </a:ext>
            </a:extLst>
          </p:cNvPr>
          <p:cNvSpPr>
            <a:spLocks noGrp="1"/>
          </p:cNvSpPr>
          <p:nvPr>
            <p:ph type="title"/>
          </p:nvPr>
        </p:nvSpPr>
        <p:spPr>
          <a:xfrm>
            <a:off x="838200" y="365126"/>
            <a:ext cx="10515600" cy="804914"/>
          </a:xfrm>
        </p:spPr>
        <p:txBody>
          <a:bodyPr>
            <a:normAutofit/>
          </a:bodyPr>
          <a:lstStyle/>
          <a:p>
            <a:pPr algn="ctr"/>
            <a:r>
              <a:rPr lang="en-IN" sz="3200" b="1" i="1" u="sng" dirty="0">
                <a:solidFill>
                  <a:srgbClr val="FF0000"/>
                </a:solidFill>
              </a:rPr>
              <a:t>Retrieval-Augmented Generation (RAG)</a:t>
            </a:r>
            <a:endParaRPr lang="en-IN" sz="3200" i="1" u="sng" dirty="0">
              <a:solidFill>
                <a:srgbClr val="FF0000"/>
              </a:solidFill>
            </a:endParaRPr>
          </a:p>
        </p:txBody>
      </p:sp>
      <p:sp>
        <p:nvSpPr>
          <p:cNvPr id="3" name="Text Placeholder 2">
            <a:extLst>
              <a:ext uri="{FF2B5EF4-FFF2-40B4-BE49-F238E27FC236}">
                <a16:creationId xmlns:a16="http://schemas.microsoft.com/office/drawing/2014/main" id="{57824171-4751-D5B8-4F4E-B742F3525028}"/>
              </a:ext>
            </a:extLst>
          </p:cNvPr>
          <p:cNvSpPr>
            <a:spLocks noGrp="1"/>
          </p:cNvSpPr>
          <p:nvPr>
            <p:ph type="body" idx="1"/>
          </p:nvPr>
        </p:nvSpPr>
        <p:spPr>
          <a:xfrm>
            <a:off x="838200" y="1253331"/>
            <a:ext cx="10515600" cy="4351338"/>
          </a:xfrm>
        </p:spPr>
        <p:txBody>
          <a:bodyPr>
            <a:normAutofit/>
          </a:bodyPr>
          <a:lstStyle/>
          <a:p>
            <a:pPr marL="114300" indent="0" algn="just">
              <a:buNone/>
            </a:pPr>
            <a:r>
              <a:rPr lang="en-IN" sz="2000" dirty="0"/>
              <a:t>Retrieval-Augmented Generation (RAG) is an AI framework that combines document retrieval with a Large Language Model. Instead of answering only from its trained knowledge, the model first retrieves relevant documents and then generates an answer based on the retrieved information.</a:t>
            </a:r>
          </a:p>
          <a:p>
            <a:pPr marL="114300" indent="0" algn="just">
              <a:buNone/>
            </a:pPr>
            <a:endParaRPr lang="en-IN" sz="200" b="1" dirty="0"/>
          </a:p>
          <a:p>
            <a:pPr marL="114300" indent="0" algn="just">
              <a:buNone/>
            </a:pPr>
            <a:r>
              <a:rPr lang="en-IN" sz="2000" b="1" dirty="0"/>
              <a:t>Benefits</a:t>
            </a:r>
          </a:p>
          <a:p>
            <a:pPr algn="just"/>
            <a:r>
              <a:rPr lang="en-IN" sz="2000" dirty="0"/>
              <a:t>Produces evidence-based answers. </a:t>
            </a:r>
          </a:p>
          <a:p>
            <a:pPr algn="just"/>
            <a:r>
              <a:rPr lang="en-IN" sz="2000" dirty="0"/>
              <a:t>Reduces hallucinations. </a:t>
            </a:r>
          </a:p>
          <a:p>
            <a:pPr algn="just"/>
            <a:r>
              <a:rPr lang="en-IN" sz="2000" dirty="0"/>
              <a:t>Uses up-to-date and domain-specific documents. </a:t>
            </a:r>
          </a:p>
          <a:p>
            <a:pPr algn="just"/>
            <a:r>
              <a:rPr lang="en-IN" sz="2000" dirty="0"/>
              <a:t>Improves reliability and trustworthiness. </a:t>
            </a:r>
          </a:p>
        </p:txBody>
      </p:sp>
    </p:spTree>
    <p:extLst>
      <p:ext uri="{BB962C8B-B14F-4D97-AF65-F5344CB8AC3E}">
        <p14:creationId xmlns:p14="http://schemas.microsoft.com/office/powerpoint/2010/main" val="1225605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8D764-F05E-500A-4BF2-AD294DFCBD8C}"/>
              </a:ext>
            </a:extLst>
          </p:cNvPr>
          <p:cNvSpPr>
            <a:spLocks noGrp="1"/>
          </p:cNvSpPr>
          <p:nvPr>
            <p:ph type="title"/>
          </p:nvPr>
        </p:nvSpPr>
        <p:spPr>
          <a:xfrm>
            <a:off x="838200" y="365125"/>
            <a:ext cx="10515600" cy="789907"/>
          </a:xfrm>
        </p:spPr>
        <p:txBody>
          <a:bodyPr>
            <a:normAutofit/>
          </a:bodyPr>
          <a:lstStyle/>
          <a:p>
            <a:pPr algn="ctr"/>
            <a:r>
              <a:rPr lang="en-IN" sz="3200" b="1" i="1" u="sng" dirty="0">
                <a:solidFill>
                  <a:srgbClr val="FF0000"/>
                </a:solidFill>
              </a:rPr>
              <a:t>Why Do We Need RAG?</a:t>
            </a:r>
          </a:p>
        </p:txBody>
      </p:sp>
      <p:sp>
        <p:nvSpPr>
          <p:cNvPr id="3" name="Text Placeholder 2">
            <a:extLst>
              <a:ext uri="{FF2B5EF4-FFF2-40B4-BE49-F238E27FC236}">
                <a16:creationId xmlns:a16="http://schemas.microsoft.com/office/drawing/2014/main" id="{05F93475-C4F5-25FC-500A-BED45668EB97}"/>
              </a:ext>
            </a:extLst>
          </p:cNvPr>
          <p:cNvSpPr>
            <a:spLocks noGrp="1"/>
          </p:cNvSpPr>
          <p:nvPr>
            <p:ph type="body" idx="1"/>
          </p:nvPr>
        </p:nvSpPr>
        <p:spPr>
          <a:xfrm>
            <a:off x="838200" y="1155032"/>
            <a:ext cx="10515600" cy="4701089"/>
          </a:xfrm>
        </p:spPr>
        <p:txBody>
          <a:bodyPr>
            <a:normAutofit/>
          </a:bodyPr>
          <a:lstStyle/>
          <a:p>
            <a:pPr algn="just">
              <a:buFont typeface="Wingdings" panose="05000000000000000000" pitchFamily="2" charset="2"/>
              <a:buChar char="§"/>
            </a:pPr>
            <a:r>
              <a:rPr lang="en-IN" sz="2000" dirty="0"/>
              <a:t>Answers are based only on the model's existing knowledge. </a:t>
            </a:r>
          </a:p>
          <a:p>
            <a:pPr algn="just">
              <a:buFont typeface="Wingdings" panose="05000000000000000000" pitchFamily="2" charset="2"/>
              <a:buChar char="§"/>
            </a:pPr>
            <a:r>
              <a:rPr lang="en-IN" sz="2000" dirty="0"/>
              <a:t>The model cannot search medical research papers while answering. </a:t>
            </a:r>
          </a:p>
          <a:p>
            <a:pPr algn="just">
              <a:buFont typeface="Wingdings" panose="05000000000000000000" pitchFamily="2" charset="2"/>
              <a:buChar char="§"/>
            </a:pPr>
            <a:r>
              <a:rPr lang="en-IN" sz="2000" dirty="0"/>
              <a:t>Important or recent information may be missing. </a:t>
            </a:r>
          </a:p>
          <a:p>
            <a:pPr algn="just">
              <a:buFont typeface="Wingdings" panose="05000000000000000000" pitchFamily="2" charset="2"/>
              <a:buChar char="§"/>
            </a:pPr>
            <a:r>
              <a:rPr lang="en-IN" sz="2000" dirty="0"/>
              <a:t>Users cannot verify where the answer came from. </a:t>
            </a:r>
          </a:p>
          <a:p>
            <a:pPr algn="just">
              <a:buFont typeface="Wingdings" panose="05000000000000000000" pitchFamily="2" charset="2"/>
              <a:buChar char="§"/>
            </a:pPr>
            <a:r>
              <a:rPr lang="en-IN" sz="2000" dirty="0"/>
              <a:t>This reduces the reliability and trustworthiness of the response. </a:t>
            </a:r>
          </a:p>
          <a:p>
            <a:pPr marL="114300" indent="0" algn="just">
              <a:buNone/>
            </a:pPr>
            <a:endParaRPr lang="en-IN" sz="500" b="1" dirty="0"/>
          </a:p>
          <a:p>
            <a:pPr marL="114300" indent="0" algn="just">
              <a:buNone/>
            </a:pPr>
            <a:r>
              <a:rPr lang="en-IN" sz="2000" b="1" dirty="0"/>
              <a:t>Solution</a:t>
            </a:r>
          </a:p>
          <a:p>
            <a:pPr marL="114300" indent="0" algn="just">
              <a:buNone/>
            </a:pPr>
            <a:r>
              <a:rPr lang="en-IN" sz="2000" dirty="0"/>
              <a:t>RAG first retrieves relevant information from trusted medical documents and then generates the answer, making the response more accurate and reliable.</a:t>
            </a:r>
          </a:p>
        </p:txBody>
      </p:sp>
    </p:spTree>
    <p:extLst>
      <p:ext uri="{BB962C8B-B14F-4D97-AF65-F5344CB8AC3E}">
        <p14:creationId xmlns:p14="http://schemas.microsoft.com/office/powerpoint/2010/main" val="192588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B40735F-D714-FBBE-829D-8C7F3F0BA3B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49765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1AEBB70-327C-174D-CC3C-53815393AF0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FFFA44F-BC69-E794-10ED-8E5AA605AA6F}"/>
              </a:ext>
            </a:extLst>
          </p:cNvPr>
          <p:cNvSpPr txBox="1"/>
          <p:nvPr/>
        </p:nvSpPr>
        <p:spPr>
          <a:xfrm>
            <a:off x="3426801" y="225366"/>
            <a:ext cx="6096000" cy="646331"/>
          </a:xfrm>
          <a:prstGeom prst="rect">
            <a:avLst/>
          </a:prstGeom>
          <a:noFill/>
        </p:spPr>
        <p:txBody>
          <a:bodyPr wrap="square">
            <a:spAutoFit/>
          </a:bodyPr>
          <a:lstStyle/>
          <a:p>
            <a:r>
              <a:rPr lang="en-IN"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rPr>
              <a:t>Dataset (Knowledge Base)</a:t>
            </a:r>
          </a:p>
        </p:txBody>
      </p:sp>
      <p:sp>
        <p:nvSpPr>
          <p:cNvPr id="6" name="TextBox 5">
            <a:extLst>
              <a:ext uri="{FF2B5EF4-FFF2-40B4-BE49-F238E27FC236}">
                <a16:creationId xmlns:a16="http://schemas.microsoft.com/office/drawing/2014/main" id="{B30C81BE-97E0-884B-C16F-18F4ED76293A}"/>
              </a:ext>
            </a:extLst>
          </p:cNvPr>
          <p:cNvSpPr txBox="1"/>
          <p:nvPr/>
        </p:nvSpPr>
        <p:spPr>
          <a:xfrm>
            <a:off x="689811" y="935865"/>
            <a:ext cx="10716126" cy="4939814"/>
          </a:xfrm>
          <a:prstGeom prst="rect">
            <a:avLst/>
          </a:prstGeom>
          <a:noFill/>
        </p:spPr>
        <p:txBody>
          <a:bodyPr wrap="square">
            <a:spAutoFit/>
          </a:bodyPr>
          <a:lstStyle/>
          <a:p>
            <a:pPr algn="just"/>
            <a:r>
              <a:rPr lang="en-IN" sz="2000" b="1" dirty="0">
                <a:latin typeface="Calibri" panose="020F0502020204030204" pitchFamily="34" charset="0"/>
                <a:ea typeface="Calibri" panose="020F0502020204030204" pitchFamily="34" charset="0"/>
                <a:cs typeface="Calibri" panose="020F0502020204030204" pitchFamily="34" charset="0"/>
              </a:rPr>
              <a:t>Medical Knowledge Base</a:t>
            </a:r>
          </a:p>
          <a:p>
            <a:pPr algn="just"/>
            <a:endParaRPr lang="en-IN" sz="500" b="1" dirty="0">
              <a:latin typeface="Calibri" panose="020F0502020204030204" pitchFamily="34" charset="0"/>
              <a:ea typeface="Calibri" panose="020F0502020204030204" pitchFamily="34" charset="0"/>
              <a:cs typeface="Calibri" panose="020F0502020204030204" pitchFamily="34" charset="0"/>
            </a:endParaRPr>
          </a:p>
          <a:p>
            <a:pPr algn="just"/>
            <a:r>
              <a:rPr lang="en-IN" sz="2000" dirty="0">
                <a:latin typeface="Calibri" panose="020F0502020204030204" pitchFamily="34" charset="0"/>
                <a:ea typeface="Calibri" panose="020F0502020204030204" pitchFamily="34" charset="0"/>
                <a:cs typeface="Calibri" panose="020F0502020204030204" pitchFamily="34" charset="0"/>
              </a:rPr>
              <a:t>The knowledge base was created by collecting </a:t>
            </a:r>
            <a:r>
              <a:rPr lang="en-IN" sz="2000" b="1" dirty="0">
                <a:latin typeface="Calibri" panose="020F0502020204030204" pitchFamily="34" charset="0"/>
                <a:ea typeface="Calibri" panose="020F0502020204030204" pitchFamily="34" charset="0"/>
                <a:cs typeface="Calibri" panose="020F0502020204030204" pitchFamily="34" charset="0"/>
              </a:rPr>
              <a:t>40 medical review articles</a:t>
            </a:r>
            <a:r>
              <a:rPr lang="en-IN" sz="2000" dirty="0">
                <a:latin typeface="Calibri" panose="020F0502020204030204" pitchFamily="34" charset="0"/>
                <a:ea typeface="Calibri" panose="020F0502020204030204" pitchFamily="34" charset="0"/>
                <a:cs typeface="Calibri" panose="020F0502020204030204" pitchFamily="34" charset="0"/>
              </a:rPr>
              <a:t> from trusted healthcare sources such as </a:t>
            </a:r>
            <a:r>
              <a:rPr lang="en-IN" sz="2000" b="1" dirty="0">
                <a:latin typeface="Calibri" panose="020F0502020204030204" pitchFamily="34" charset="0"/>
                <a:ea typeface="Calibri" panose="020F0502020204030204" pitchFamily="34" charset="0"/>
                <a:cs typeface="Calibri" panose="020F0502020204030204" pitchFamily="34" charset="0"/>
              </a:rPr>
              <a:t>PubMed Central (PMC)</a:t>
            </a:r>
            <a:r>
              <a:rPr lang="en-IN" sz="2000" dirty="0">
                <a:latin typeface="Calibri" panose="020F0502020204030204" pitchFamily="34" charset="0"/>
                <a:ea typeface="Calibri" panose="020F0502020204030204" pitchFamily="34" charset="0"/>
                <a:cs typeface="Calibri" panose="020F0502020204030204" pitchFamily="34" charset="0"/>
              </a:rPr>
              <a:t>. These documents provide comprehensive and evidence-based information on common chronic diseases.</a:t>
            </a:r>
          </a:p>
          <a:p>
            <a:pPr algn="just"/>
            <a:endParaRPr lang="en-IN" sz="1000" dirty="0">
              <a:latin typeface="Calibri" panose="020F0502020204030204" pitchFamily="34" charset="0"/>
              <a:ea typeface="Calibri" panose="020F0502020204030204" pitchFamily="34" charset="0"/>
              <a:cs typeface="Calibri" panose="020F0502020204030204" pitchFamily="34" charset="0"/>
            </a:endParaRPr>
          </a:p>
          <a:p>
            <a:pPr algn="just"/>
            <a:r>
              <a:rPr lang="en-IN" sz="2000" b="1" dirty="0">
                <a:latin typeface="Calibri" panose="020F0502020204030204" pitchFamily="34" charset="0"/>
                <a:ea typeface="Calibri" panose="020F0502020204030204" pitchFamily="34" charset="0"/>
                <a:cs typeface="Calibri" panose="020F0502020204030204" pitchFamily="34" charset="0"/>
              </a:rPr>
              <a:t>Disease Categories</a:t>
            </a:r>
          </a:p>
          <a:p>
            <a:pPr algn="just"/>
            <a:endParaRPr lang="en-IN" sz="500" b="1"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Diabetes </a:t>
            </a:r>
          </a:p>
          <a:p>
            <a:pPr marL="342900" indent="-342900" algn="just">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Hypertension </a:t>
            </a:r>
          </a:p>
          <a:p>
            <a:pPr marL="342900" indent="-342900" algn="just">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Cardiovascular Disease </a:t>
            </a:r>
          </a:p>
          <a:p>
            <a:pPr marL="342900" indent="-342900" algn="just">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Asthma </a:t>
            </a:r>
          </a:p>
          <a:p>
            <a:pPr marL="342900" indent="-342900" algn="just">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Chronic Kidney Disease </a:t>
            </a:r>
          </a:p>
          <a:p>
            <a:pPr algn="just"/>
            <a:endParaRPr lang="en-IN" sz="1000" b="1" dirty="0">
              <a:latin typeface="Calibri" panose="020F0502020204030204" pitchFamily="34" charset="0"/>
              <a:ea typeface="Calibri" panose="020F0502020204030204" pitchFamily="34" charset="0"/>
              <a:cs typeface="Calibri" panose="020F0502020204030204" pitchFamily="34" charset="0"/>
            </a:endParaRPr>
          </a:p>
          <a:p>
            <a:pPr algn="just"/>
            <a:r>
              <a:rPr lang="en-IN" sz="2000" b="1" dirty="0">
                <a:latin typeface="Calibri" panose="020F0502020204030204" pitchFamily="34" charset="0"/>
                <a:ea typeface="Calibri" panose="020F0502020204030204" pitchFamily="34" charset="0"/>
                <a:cs typeface="Calibri" panose="020F0502020204030204" pitchFamily="34" charset="0"/>
              </a:rPr>
              <a:t>Dataset Statistics</a:t>
            </a:r>
          </a:p>
          <a:p>
            <a:pPr algn="just"/>
            <a:endParaRPr lang="en-IN" sz="500" b="1" dirty="0">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40 Medical Research PDFs </a:t>
            </a:r>
          </a:p>
          <a:p>
            <a:pPr marL="342900" indent="-342900" algn="just">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664 Documents Loaded </a:t>
            </a:r>
          </a:p>
          <a:p>
            <a:pPr marL="342900" indent="-342900" algn="just">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5,396 Text Chunks Generated </a:t>
            </a:r>
          </a:p>
        </p:txBody>
      </p:sp>
      <p:sp>
        <p:nvSpPr>
          <p:cNvPr id="3" name="TextBox 2">
            <a:extLst>
              <a:ext uri="{FF2B5EF4-FFF2-40B4-BE49-F238E27FC236}">
                <a16:creationId xmlns:a16="http://schemas.microsoft.com/office/drawing/2014/main" id="{CC6291C4-B2AD-E9BD-7958-9ABEE6548AEF}"/>
              </a:ext>
            </a:extLst>
          </p:cNvPr>
          <p:cNvSpPr txBox="1"/>
          <p:nvPr/>
        </p:nvSpPr>
        <p:spPr>
          <a:xfrm>
            <a:off x="5309937" y="2736502"/>
            <a:ext cx="6096000" cy="2631490"/>
          </a:xfrm>
          <a:prstGeom prst="rect">
            <a:avLst/>
          </a:prstGeom>
          <a:noFill/>
        </p:spPr>
        <p:txBody>
          <a:bodyPr wrap="square">
            <a:sp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Why This Dataset?</a:t>
            </a:r>
          </a:p>
          <a:p>
            <a:endParaRPr lang="en-IN" sz="500" b="1"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Built from trusted and publicly available medical literature. </a:t>
            </a:r>
          </a:p>
          <a:p>
            <a:pPr marL="34290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Covers diagnosis, symptoms, risk factors, treatment, complications, and prevention. </a:t>
            </a:r>
          </a:p>
          <a:p>
            <a:pPr marL="34290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Forms the knowledge base used by the RAG system to retrieve relevant medical information and generate evidence-based responses. </a:t>
            </a:r>
          </a:p>
        </p:txBody>
      </p:sp>
    </p:spTree>
    <p:extLst>
      <p:ext uri="{BB962C8B-B14F-4D97-AF65-F5344CB8AC3E}">
        <p14:creationId xmlns:p14="http://schemas.microsoft.com/office/powerpoint/2010/main" val="1833723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EFC4918B-009C-3C90-D346-21B4E66357D3}"/>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E9307A3A-B41D-EDDF-5001-AD9EBF08AA65}"/>
              </a:ext>
            </a:extLst>
          </p:cNvPr>
          <p:cNvSpPr txBox="1">
            <a:spLocks noGrp="1"/>
          </p:cNvSpPr>
          <p:nvPr>
            <p:ph type="title"/>
          </p:nvPr>
        </p:nvSpPr>
        <p:spPr>
          <a:xfrm>
            <a:off x="532937" y="0"/>
            <a:ext cx="10515600" cy="881725"/>
          </a:xfrm>
          <a:prstGeom prst="rect">
            <a:avLst/>
          </a:prstGeom>
          <a:noFill/>
          <a:ln>
            <a:noFill/>
          </a:ln>
        </p:spPr>
        <p:txBody>
          <a:bodyPr spcFirstLastPara="1" wrap="square" lIns="91425" tIns="45700" rIns="91425" bIns="45700" anchor="ctr" anchorCtr="0">
            <a:normAutofit/>
          </a:bodyPr>
          <a:lstStyle/>
          <a:p>
            <a:pPr algn="ctr"/>
            <a:r>
              <a:rPr lang="en-IN" sz="3200" b="1" i="1" u="sng" dirty="0">
                <a:solidFill>
                  <a:srgbClr val="FF0000"/>
                </a:solidFill>
              </a:rPr>
              <a:t>Data Preparation (Offline Indexing)</a:t>
            </a:r>
          </a:p>
        </p:txBody>
      </p:sp>
      <p:sp>
        <p:nvSpPr>
          <p:cNvPr id="3" name="TextBox 2">
            <a:extLst>
              <a:ext uri="{FF2B5EF4-FFF2-40B4-BE49-F238E27FC236}">
                <a16:creationId xmlns:a16="http://schemas.microsoft.com/office/drawing/2014/main" id="{CB4E2FCE-BDDD-5447-A9E4-90189526CF25}"/>
              </a:ext>
            </a:extLst>
          </p:cNvPr>
          <p:cNvSpPr txBox="1"/>
          <p:nvPr/>
        </p:nvSpPr>
        <p:spPr>
          <a:xfrm>
            <a:off x="698732" y="882149"/>
            <a:ext cx="10903333" cy="5093702"/>
          </a:xfrm>
          <a:prstGeom prst="rect">
            <a:avLst/>
          </a:prstGeom>
          <a:noFill/>
        </p:spPr>
        <p:txBody>
          <a:bodyPr wrap="square">
            <a:sp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Document Loading</a:t>
            </a:r>
          </a:p>
          <a:p>
            <a:pPr marL="34290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Medical research PDFs are collected from trusted healthcare sources. </a:t>
            </a:r>
          </a:p>
          <a:p>
            <a:pPr marL="34290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The text is extracted from each document for further processing. </a:t>
            </a:r>
          </a:p>
          <a:p>
            <a:r>
              <a:rPr lang="en-IN" sz="2000" b="1" dirty="0">
                <a:latin typeface="Calibri" panose="020F0502020204030204" pitchFamily="34" charset="0"/>
                <a:ea typeface="Calibri" panose="020F0502020204030204" pitchFamily="34" charset="0"/>
                <a:cs typeface="Calibri" panose="020F0502020204030204" pitchFamily="34" charset="0"/>
              </a:rPr>
              <a:t>Text Chunking</a:t>
            </a:r>
          </a:p>
          <a:p>
            <a:pPr marL="34290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Large documents are divided into smaller overlapping text chunks. </a:t>
            </a:r>
          </a:p>
          <a:p>
            <a:pPr marL="34290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This improves retrieval accuracy and preserves context. </a:t>
            </a:r>
          </a:p>
          <a:p>
            <a:r>
              <a:rPr lang="en-IN" sz="2000" b="1" dirty="0">
                <a:latin typeface="Calibri" panose="020F0502020204030204" pitchFamily="34" charset="0"/>
                <a:ea typeface="Calibri" panose="020F0502020204030204" pitchFamily="34" charset="0"/>
                <a:cs typeface="Calibri" panose="020F0502020204030204" pitchFamily="34" charset="0"/>
              </a:rPr>
              <a:t>Text Embedding</a:t>
            </a:r>
          </a:p>
          <a:p>
            <a:pPr marL="34290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Each text chunk is converted into a numerical representation (vector). </a:t>
            </a:r>
          </a:p>
          <a:p>
            <a:pPr marL="34290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These vectors capture the semantic meaning of the content. </a:t>
            </a:r>
          </a:p>
          <a:p>
            <a:r>
              <a:rPr lang="en-IN" sz="2000" b="1" dirty="0">
                <a:latin typeface="Calibri" panose="020F0502020204030204" pitchFamily="34" charset="0"/>
                <a:ea typeface="Calibri" panose="020F0502020204030204" pitchFamily="34" charset="0"/>
                <a:cs typeface="Calibri" panose="020F0502020204030204" pitchFamily="34" charset="0"/>
              </a:rPr>
              <a:t>Vector Database</a:t>
            </a:r>
          </a:p>
          <a:p>
            <a:pPr marL="34290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The generated vectors are stored in a vector database. </a:t>
            </a:r>
          </a:p>
          <a:p>
            <a:pPr marL="34290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This enables fast and efficient similarity-based document retrieval. </a:t>
            </a:r>
          </a:p>
          <a:p>
            <a:endParaRPr lang="en-IN" sz="500" b="1" dirty="0">
              <a:latin typeface="Calibri" panose="020F0502020204030204" pitchFamily="34" charset="0"/>
              <a:ea typeface="Calibri" panose="020F0502020204030204" pitchFamily="34" charset="0"/>
              <a:cs typeface="Calibri" panose="020F0502020204030204" pitchFamily="34" charset="0"/>
            </a:endParaRPr>
          </a:p>
          <a:p>
            <a:r>
              <a:rPr lang="en-IN" sz="2000" b="1" dirty="0">
                <a:latin typeface="Calibri" panose="020F0502020204030204" pitchFamily="34" charset="0"/>
                <a:ea typeface="Calibri" panose="020F0502020204030204" pitchFamily="34" charset="0"/>
                <a:cs typeface="Calibri" panose="020F0502020204030204" pitchFamily="34" charset="0"/>
              </a:rPr>
              <a:t>Output</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40 Medical PDF files </a:t>
            </a:r>
          </a:p>
          <a:p>
            <a:pPr marL="34290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664 Documents </a:t>
            </a:r>
          </a:p>
          <a:p>
            <a:pPr marL="342900" indent="-34290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5,396 Text Chunks </a:t>
            </a:r>
          </a:p>
        </p:txBody>
      </p:sp>
    </p:spTree>
    <p:extLst>
      <p:ext uri="{BB962C8B-B14F-4D97-AF65-F5344CB8AC3E}">
        <p14:creationId xmlns:p14="http://schemas.microsoft.com/office/powerpoint/2010/main" val="4248442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BEC79F6-C6EC-BBB8-345F-7215B26FFEDB}"/>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03932904-F537-1967-CA2D-B4030622719F}"/>
              </a:ext>
            </a:extLst>
          </p:cNvPr>
          <p:cNvSpPr txBox="1">
            <a:spLocks noGrp="1"/>
          </p:cNvSpPr>
          <p:nvPr>
            <p:ph type="title"/>
          </p:nvPr>
        </p:nvSpPr>
        <p:spPr>
          <a:xfrm>
            <a:off x="503440" y="315056"/>
            <a:ext cx="10515600" cy="881725"/>
          </a:xfrm>
          <a:prstGeom prst="rect">
            <a:avLst/>
          </a:prstGeom>
          <a:noFill/>
          <a:ln>
            <a:noFill/>
          </a:ln>
        </p:spPr>
        <p:txBody>
          <a:bodyPr spcFirstLastPara="1" wrap="square" lIns="91425" tIns="45700" rIns="91425" bIns="45700" anchor="ctr" anchorCtr="0">
            <a:normAutofit/>
          </a:bodyPr>
          <a:lstStyle/>
          <a:p>
            <a:pPr algn="ctr">
              <a:buClr>
                <a:srgbClr val="FF0000"/>
              </a:buClr>
              <a:buSzPts val="4400"/>
            </a:pPr>
            <a:r>
              <a:rPr lang="en-IN" sz="3200" b="1" i="1" u="sng" dirty="0">
                <a:solidFill>
                  <a:srgbClr val="FF0000"/>
                </a:solidFill>
              </a:rPr>
              <a:t>Hybrid Retrieval Pipeline</a:t>
            </a:r>
            <a:endParaRPr sz="3200" b="1" i="1" u="sng" dirty="0">
              <a:solidFill>
                <a:srgbClr val="FF0000"/>
              </a:solidFill>
            </a:endParaRPr>
          </a:p>
        </p:txBody>
      </p:sp>
      <p:sp>
        <p:nvSpPr>
          <p:cNvPr id="3" name="TextBox 2">
            <a:extLst>
              <a:ext uri="{FF2B5EF4-FFF2-40B4-BE49-F238E27FC236}">
                <a16:creationId xmlns:a16="http://schemas.microsoft.com/office/drawing/2014/main" id="{6642FB24-44A4-F576-E63A-46439388E2C6}"/>
              </a:ext>
            </a:extLst>
          </p:cNvPr>
          <p:cNvSpPr txBox="1"/>
          <p:nvPr/>
        </p:nvSpPr>
        <p:spPr>
          <a:xfrm>
            <a:off x="669236" y="1196781"/>
            <a:ext cx="10515601" cy="3939540"/>
          </a:xfrm>
          <a:prstGeom prst="rect">
            <a:avLst/>
          </a:prstGeom>
          <a:noFill/>
        </p:spPr>
        <p:txBody>
          <a:bodyPr wrap="square">
            <a:spAutoFit/>
          </a:bodyPr>
          <a:lstStyle/>
          <a:p>
            <a:pPr algn="just"/>
            <a:r>
              <a:rPr lang="en-IN" sz="2000" b="1" dirty="0">
                <a:latin typeface="Calibri" panose="020F0502020204030204" pitchFamily="34" charset="0"/>
                <a:ea typeface="Calibri" panose="020F0502020204030204" pitchFamily="34" charset="0"/>
                <a:cs typeface="Calibri" panose="020F0502020204030204" pitchFamily="34" charset="0"/>
              </a:rPr>
              <a:t>How the Retrieval Pipeline Works</a:t>
            </a:r>
          </a:p>
          <a:p>
            <a:pPr algn="just"/>
            <a:endParaRPr lang="en-IN" sz="500" b="1" dirty="0">
              <a:latin typeface="Calibri" panose="020F0502020204030204" pitchFamily="34" charset="0"/>
              <a:ea typeface="Calibri" panose="020F0502020204030204" pitchFamily="34" charset="0"/>
              <a:cs typeface="Calibri" panose="020F0502020204030204" pitchFamily="34" charset="0"/>
            </a:endParaRPr>
          </a:p>
          <a:p>
            <a:pPr marL="285750" indent="-285750" algn="just">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The retrieval pipeline is designed to identify the most relevant medical information before generating a response.</a:t>
            </a:r>
          </a:p>
          <a:p>
            <a:pPr marL="285750" indent="-285750" algn="just">
              <a:buFont typeface="Wingdings" panose="05000000000000000000" pitchFamily="2" charset="2"/>
              <a:buChar char="§"/>
            </a:pPr>
            <a:r>
              <a:rPr lang="en-IN" sz="2000" b="1" dirty="0">
                <a:latin typeface="Calibri" panose="020F0502020204030204" pitchFamily="34" charset="0"/>
                <a:ea typeface="Calibri" panose="020F0502020204030204" pitchFamily="34" charset="0"/>
                <a:cs typeface="Calibri" panose="020F0502020204030204" pitchFamily="34" charset="0"/>
              </a:rPr>
              <a:t>BM25</a:t>
            </a:r>
            <a:r>
              <a:rPr lang="en-IN" sz="2000" dirty="0">
                <a:latin typeface="Calibri" panose="020F0502020204030204" pitchFamily="34" charset="0"/>
                <a:ea typeface="Calibri" panose="020F0502020204030204" pitchFamily="34" charset="0"/>
                <a:cs typeface="Calibri" panose="020F0502020204030204" pitchFamily="34" charset="0"/>
              </a:rPr>
              <a:t> performs keyword-based search to find documents containing important search terms. </a:t>
            </a:r>
          </a:p>
          <a:p>
            <a:pPr marL="285750" indent="-285750" algn="just">
              <a:buFont typeface="Wingdings" panose="05000000000000000000" pitchFamily="2" charset="2"/>
              <a:buChar char="§"/>
            </a:pPr>
            <a:r>
              <a:rPr lang="en-IN" sz="2000" b="1" dirty="0">
                <a:latin typeface="Calibri" panose="020F0502020204030204" pitchFamily="34" charset="0"/>
                <a:ea typeface="Calibri" panose="020F0502020204030204" pitchFamily="34" charset="0"/>
                <a:cs typeface="Calibri" panose="020F0502020204030204" pitchFamily="34" charset="0"/>
              </a:rPr>
              <a:t>MMR</a:t>
            </a:r>
            <a:r>
              <a:rPr lang="en-IN" sz="2000" dirty="0">
                <a:latin typeface="Calibri" panose="020F0502020204030204" pitchFamily="34" charset="0"/>
                <a:ea typeface="Calibri" panose="020F0502020204030204" pitchFamily="34" charset="0"/>
                <a:cs typeface="Calibri" panose="020F0502020204030204" pitchFamily="34" charset="0"/>
              </a:rPr>
              <a:t> enhances retrieval by identifying semantically similar and diverse documents. </a:t>
            </a:r>
          </a:p>
          <a:p>
            <a:pPr marL="285750" indent="-285750" algn="just">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The results from both methods are combined to improve retrieval quality. </a:t>
            </a:r>
          </a:p>
          <a:p>
            <a:pPr marL="285750" indent="-285750" algn="just">
              <a:buFont typeface="Wingdings" panose="05000000000000000000" pitchFamily="2" charset="2"/>
              <a:buChar char="§"/>
            </a:pPr>
            <a:r>
              <a:rPr lang="en-IN" sz="2000" b="1" dirty="0">
                <a:latin typeface="Calibri" panose="020F0502020204030204" pitchFamily="34" charset="0"/>
                <a:ea typeface="Calibri" panose="020F0502020204030204" pitchFamily="34" charset="0"/>
                <a:cs typeface="Calibri" panose="020F0502020204030204" pitchFamily="34" charset="0"/>
              </a:rPr>
              <a:t>Context Compression</a:t>
            </a:r>
            <a:r>
              <a:rPr lang="en-IN" sz="2000" dirty="0">
                <a:latin typeface="Calibri" panose="020F0502020204030204" pitchFamily="34" charset="0"/>
                <a:ea typeface="Calibri" panose="020F0502020204030204" pitchFamily="34" charset="0"/>
                <a:cs typeface="Calibri" panose="020F0502020204030204" pitchFamily="34" charset="0"/>
              </a:rPr>
              <a:t> removes unnecessary information and keeps only the most relevant content. </a:t>
            </a:r>
          </a:p>
          <a:p>
            <a:pPr marL="285750" indent="-285750" algn="just">
              <a:buFont typeface="Wingdings" panose="05000000000000000000" pitchFamily="2" charset="2"/>
              <a:buChar char="§"/>
            </a:pPr>
            <a:r>
              <a:rPr lang="en-IN" sz="2000" b="1" dirty="0" err="1">
                <a:latin typeface="Calibri" panose="020F0502020204030204" pitchFamily="34" charset="0"/>
                <a:ea typeface="Calibri" panose="020F0502020204030204" pitchFamily="34" charset="0"/>
                <a:cs typeface="Calibri" panose="020F0502020204030204" pitchFamily="34" charset="0"/>
              </a:rPr>
              <a:t>HyDE</a:t>
            </a:r>
            <a:r>
              <a:rPr lang="en-IN" sz="2000" b="1" dirty="0">
                <a:latin typeface="Calibri" panose="020F0502020204030204" pitchFamily="34" charset="0"/>
                <a:ea typeface="Calibri" panose="020F0502020204030204" pitchFamily="34" charset="0"/>
                <a:cs typeface="Calibri" panose="020F0502020204030204" pitchFamily="34" charset="0"/>
              </a:rPr>
              <a:t> Query Expansion</a:t>
            </a:r>
            <a:r>
              <a:rPr lang="en-IN" sz="2000" dirty="0">
                <a:latin typeface="Calibri" panose="020F0502020204030204" pitchFamily="34" charset="0"/>
                <a:ea typeface="Calibri" panose="020F0502020204030204" pitchFamily="34" charset="0"/>
                <a:cs typeface="Calibri" panose="020F0502020204030204" pitchFamily="34" charset="0"/>
              </a:rPr>
              <a:t> generates a hypothetical document to improve semantic retrieval, especially for complex medical queries. </a:t>
            </a:r>
          </a:p>
          <a:p>
            <a:pPr algn="just"/>
            <a:endParaRPr lang="en-IN" sz="500" b="1" dirty="0">
              <a:latin typeface="Calibri" panose="020F0502020204030204" pitchFamily="34" charset="0"/>
              <a:ea typeface="Calibri" panose="020F0502020204030204" pitchFamily="34" charset="0"/>
              <a:cs typeface="Calibri" panose="020F0502020204030204" pitchFamily="34" charset="0"/>
            </a:endParaRPr>
          </a:p>
          <a:p>
            <a:pPr algn="just"/>
            <a:r>
              <a:rPr lang="en-IN" sz="2000" b="1" dirty="0">
                <a:latin typeface="Calibri" panose="020F0502020204030204" pitchFamily="34" charset="0"/>
                <a:ea typeface="Calibri" panose="020F0502020204030204" pitchFamily="34" charset="0"/>
                <a:cs typeface="Calibri" panose="020F0502020204030204" pitchFamily="34" charset="0"/>
              </a:rPr>
              <a:t>Outcome: </a:t>
            </a:r>
            <a:r>
              <a:rPr lang="en-IN" sz="2000" dirty="0">
                <a:latin typeface="Calibri" panose="020F0502020204030204" pitchFamily="34" charset="0"/>
                <a:ea typeface="Calibri" panose="020F0502020204030204" pitchFamily="34" charset="0"/>
                <a:cs typeface="Calibri" panose="020F0502020204030204" pitchFamily="34" charset="0"/>
              </a:rPr>
              <a:t>The retrieved context is accurate, relevant, and concise, allowing the Large Language Model to generate trustworthy and evidence-based healthcare responses.</a:t>
            </a:r>
          </a:p>
        </p:txBody>
      </p:sp>
    </p:spTree>
    <p:extLst>
      <p:ext uri="{BB962C8B-B14F-4D97-AF65-F5344CB8AC3E}">
        <p14:creationId xmlns:p14="http://schemas.microsoft.com/office/powerpoint/2010/main" val="1030948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E8CF219D-7BC4-AEBD-B204-D9098ACB85D2}"/>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FE4989D9-A517-F162-1445-52E88F9940C9}"/>
              </a:ext>
            </a:extLst>
          </p:cNvPr>
          <p:cNvSpPr txBox="1">
            <a:spLocks noGrp="1"/>
          </p:cNvSpPr>
          <p:nvPr>
            <p:ph type="title"/>
          </p:nvPr>
        </p:nvSpPr>
        <p:spPr>
          <a:xfrm>
            <a:off x="613148" y="352926"/>
            <a:ext cx="10515600" cy="881725"/>
          </a:xfrm>
          <a:prstGeom prst="rect">
            <a:avLst/>
          </a:prstGeom>
          <a:noFill/>
          <a:ln>
            <a:noFill/>
          </a:ln>
        </p:spPr>
        <p:txBody>
          <a:bodyPr spcFirstLastPara="1" wrap="square" lIns="91425" tIns="45700" rIns="91425" bIns="45700" anchor="ctr" anchorCtr="0">
            <a:normAutofit/>
          </a:bodyPr>
          <a:lstStyle/>
          <a:p>
            <a:pPr algn="ctr">
              <a:buClr>
                <a:srgbClr val="FF0000"/>
              </a:buClr>
              <a:buSzPts val="4400"/>
            </a:pPr>
            <a:r>
              <a:rPr lang="en-IN" sz="3600" b="1" i="1" u="sng" dirty="0">
                <a:solidFill>
                  <a:srgbClr val="FF0000"/>
                </a:solidFill>
              </a:rPr>
              <a:t>LLM-Based Answer Generation</a:t>
            </a:r>
            <a:endParaRPr sz="3600" b="1" i="1" u="sng" dirty="0">
              <a:solidFill>
                <a:srgbClr val="FF0000"/>
              </a:solidFill>
            </a:endParaRPr>
          </a:p>
        </p:txBody>
      </p:sp>
      <p:sp>
        <p:nvSpPr>
          <p:cNvPr id="3" name="TextBox 2">
            <a:extLst>
              <a:ext uri="{FF2B5EF4-FFF2-40B4-BE49-F238E27FC236}">
                <a16:creationId xmlns:a16="http://schemas.microsoft.com/office/drawing/2014/main" id="{D7F12E15-EE51-68F1-D5A9-9BADF987DC79}"/>
              </a:ext>
            </a:extLst>
          </p:cNvPr>
          <p:cNvSpPr txBox="1"/>
          <p:nvPr/>
        </p:nvSpPr>
        <p:spPr>
          <a:xfrm>
            <a:off x="843111" y="1571960"/>
            <a:ext cx="10903333" cy="3477875"/>
          </a:xfrm>
          <a:prstGeom prst="rect">
            <a:avLst/>
          </a:prstGeom>
          <a:noFill/>
        </p:spPr>
        <p:txBody>
          <a:bodyPr wrap="square">
            <a:spAutoFit/>
          </a:bodyPr>
          <a:lstStyle/>
          <a:p>
            <a:r>
              <a:rPr lang="en-IN" sz="2000" dirty="0">
                <a:latin typeface="Calibri" panose="020F0502020204030204" pitchFamily="34" charset="0"/>
                <a:ea typeface="Calibri" panose="020F0502020204030204" pitchFamily="34" charset="0"/>
                <a:cs typeface="Calibri" panose="020F0502020204030204" pitchFamily="34" charset="0"/>
              </a:rPr>
              <a:t>After retrieving the most relevant medical information, the system sends the user's question along with the retrieved context to the Large Language Model (</a:t>
            </a:r>
            <a:r>
              <a:rPr lang="en-IN" sz="2000" b="1" dirty="0" err="1">
                <a:latin typeface="Calibri" panose="020F0502020204030204" pitchFamily="34" charset="0"/>
                <a:ea typeface="Calibri" panose="020F0502020204030204" pitchFamily="34" charset="0"/>
                <a:cs typeface="Calibri" panose="020F0502020204030204" pitchFamily="34" charset="0"/>
              </a:rPr>
              <a:t>Groq</a:t>
            </a:r>
            <a:r>
              <a:rPr lang="en-IN" sz="2000" b="1" dirty="0">
                <a:latin typeface="Calibri" panose="020F0502020204030204" pitchFamily="34" charset="0"/>
                <a:ea typeface="Calibri" panose="020F0502020204030204" pitchFamily="34" charset="0"/>
                <a:cs typeface="Calibri" panose="020F0502020204030204" pitchFamily="34" charset="0"/>
              </a:rPr>
              <a:t> </a:t>
            </a:r>
            <a:r>
              <a:rPr lang="en-IN" sz="2000" b="1" dirty="0" err="1">
                <a:latin typeface="Calibri" panose="020F0502020204030204" pitchFamily="34" charset="0"/>
                <a:ea typeface="Calibri" panose="020F0502020204030204" pitchFamily="34" charset="0"/>
                <a:cs typeface="Calibri" panose="020F0502020204030204" pitchFamily="34" charset="0"/>
              </a:rPr>
              <a:t>openai</a:t>
            </a:r>
            <a:r>
              <a:rPr lang="en-IN" sz="2000" b="1" dirty="0">
                <a:latin typeface="Calibri" panose="020F0502020204030204" pitchFamily="34" charset="0"/>
                <a:ea typeface="Calibri" panose="020F0502020204030204" pitchFamily="34" charset="0"/>
                <a:cs typeface="Calibri" panose="020F0502020204030204" pitchFamily="34" charset="0"/>
              </a:rPr>
              <a:t>/gpt-oss-20b </a:t>
            </a:r>
            <a:r>
              <a:rPr lang="en-IN" sz="2000" dirty="0">
                <a:latin typeface="Calibri" panose="020F0502020204030204" pitchFamily="34" charset="0"/>
                <a:ea typeface="Calibri" panose="020F0502020204030204" pitchFamily="34" charset="0"/>
                <a:cs typeface="Calibri" panose="020F0502020204030204" pitchFamily="34" charset="0"/>
              </a:rPr>
              <a:t>). The model generates a clear, accurate, and evidence-based response using only the retrieved medical documents.</a:t>
            </a:r>
          </a:p>
          <a:p>
            <a:r>
              <a:rPr lang="en-IN" sz="2000" dirty="0">
                <a:latin typeface="Calibri" panose="020F0502020204030204" pitchFamily="34" charset="0"/>
                <a:ea typeface="Calibri" panose="020F0502020204030204" pitchFamily="34" charset="0"/>
                <a:cs typeface="Calibri" panose="020F0502020204030204" pitchFamily="34" charset="0"/>
              </a:rPr>
              <a:t> </a:t>
            </a:r>
          </a:p>
          <a:p>
            <a:r>
              <a:rPr lang="en-IN" sz="2000" b="1" dirty="0">
                <a:latin typeface="Calibri" panose="020F0502020204030204" pitchFamily="34" charset="0"/>
                <a:ea typeface="Calibri" panose="020F0502020204030204" pitchFamily="34" charset="0"/>
                <a:cs typeface="Calibri" panose="020F0502020204030204" pitchFamily="34" charset="0"/>
              </a:rPr>
              <a:t>Key Features</a:t>
            </a:r>
          </a:p>
          <a:p>
            <a:pPr marL="285750" indent="-28575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Generates responses using retrieved medical context only.</a:t>
            </a:r>
          </a:p>
          <a:p>
            <a:pPr marL="285750" indent="-28575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Produces accurate and evidence-based healthcare answers.</a:t>
            </a:r>
          </a:p>
          <a:p>
            <a:pPr marL="285750" indent="-28575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Minimizes hallucinations by grounding responses in trusted documents.</a:t>
            </a:r>
          </a:p>
          <a:p>
            <a:pPr marL="285750" indent="-285750">
              <a:buFont typeface="Wingdings" panose="05000000000000000000" pitchFamily="2" charset="2"/>
              <a:buChar char="§"/>
            </a:pPr>
            <a:r>
              <a:rPr lang="en-IN" sz="2000" dirty="0">
                <a:latin typeface="Calibri" panose="020F0502020204030204" pitchFamily="34" charset="0"/>
                <a:ea typeface="Calibri" panose="020F0502020204030204" pitchFamily="34" charset="0"/>
                <a:cs typeface="Calibri" panose="020F0502020204030204" pitchFamily="34" charset="0"/>
              </a:rPr>
              <a:t>Delivers fast and consistent responses.</a:t>
            </a:r>
          </a:p>
          <a:p>
            <a:endParaRPr lang="en-IN" sz="2000" b="1" dirty="0">
              <a:latin typeface="Calibri" panose="020F0502020204030204" pitchFamily="34" charset="0"/>
              <a:ea typeface="Calibri" panose="020F0502020204030204" pitchFamily="34" charset="0"/>
              <a:cs typeface="Calibri" panose="020F0502020204030204" pitchFamily="34" charset="0"/>
            </a:endParaRPr>
          </a:p>
          <a:p>
            <a:r>
              <a:rPr lang="en-IN" sz="2000" b="1" dirty="0">
                <a:latin typeface="Calibri" panose="020F0502020204030204" pitchFamily="34" charset="0"/>
                <a:ea typeface="Calibri" panose="020F0502020204030204" pitchFamily="34" charset="0"/>
                <a:cs typeface="Calibri" panose="020F0502020204030204" pitchFamily="34" charset="0"/>
              </a:rPr>
              <a:t>Final Output: </a:t>
            </a:r>
            <a:r>
              <a:rPr lang="en-IN" sz="2000" dirty="0">
                <a:latin typeface="Calibri" panose="020F0502020204030204" pitchFamily="34" charset="0"/>
                <a:ea typeface="Calibri" panose="020F0502020204030204" pitchFamily="34" charset="0"/>
                <a:cs typeface="Calibri" panose="020F0502020204030204" pitchFamily="34" charset="0"/>
              </a:rPr>
              <a:t>Reliable Healthcare Answer with Supporting Context</a:t>
            </a:r>
          </a:p>
        </p:txBody>
      </p:sp>
    </p:spTree>
    <p:extLst>
      <p:ext uri="{BB962C8B-B14F-4D97-AF65-F5344CB8AC3E}">
        <p14:creationId xmlns:p14="http://schemas.microsoft.com/office/powerpoint/2010/main" val="1738887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3EA65-0D9C-0DD5-8803-70178E502331}"/>
              </a:ext>
            </a:extLst>
          </p:cNvPr>
          <p:cNvSpPr>
            <a:spLocks noGrp="1"/>
          </p:cNvSpPr>
          <p:nvPr>
            <p:ph type="title"/>
          </p:nvPr>
        </p:nvSpPr>
        <p:spPr>
          <a:xfrm>
            <a:off x="838200" y="365125"/>
            <a:ext cx="10515600" cy="741780"/>
          </a:xfrm>
        </p:spPr>
        <p:txBody>
          <a:bodyPr>
            <a:normAutofit/>
          </a:bodyPr>
          <a:lstStyle/>
          <a:p>
            <a:pPr algn="ctr"/>
            <a:r>
              <a:rPr lang="en-IN" sz="3600" b="1" i="1" u="sng" dirty="0">
                <a:solidFill>
                  <a:srgbClr val="FF0000"/>
                </a:solidFill>
              </a:rPr>
              <a:t>Evaluation Using RAGAS</a:t>
            </a:r>
            <a:endParaRPr lang="en-IN" sz="3600" i="1" u="sng" dirty="0">
              <a:solidFill>
                <a:srgbClr val="FF0000"/>
              </a:solidFill>
            </a:endParaRPr>
          </a:p>
        </p:txBody>
      </p:sp>
      <p:sp>
        <p:nvSpPr>
          <p:cNvPr id="3" name="Text Placeholder 2">
            <a:extLst>
              <a:ext uri="{FF2B5EF4-FFF2-40B4-BE49-F238E27FC236}">
                <a16:creationId xmlns:a16="http://schemas.microsoft.com/office/drawing/2014/main" id="{DF476B44-18B2-A903-1059-586ADF4088D8}"/>
              </a:ext>
            </a:extLst>
          </p:cNvPr>
          <p:cNvSpPr>
            <a:spLocks noGrp="1"/>
          </p:cNvSpPr>
          <p:nvPr>
            <p:ph type="body" idx="1"/>
          </p:nvPr>
        </p:nvSpPr>
        <p:spPr>
          <a:xfrm>
            <a:off x="677779" y="1253331"/>
            <a:ext cx="10515600" cy="4351338"/>
          </a:xfrm>
        </p:spPr>
        <p:txBody>
          <a:bodyPr>
            <a:normAutofit/>
          </a:bodyPr>
          <a:lstStyle/>
          <a:p>
            <a:pPr marL="114300" indent="0">
              <a:buNone/>
            </a:pPr>
            <a:r>
              <a:rPr lang="en-IN" sz="2000" dirty="0"/>
              <a:t>To measure the quality of the Hybrid RAG system, the </a:t>
            </a:r>
            <a:r>
              <a:rPr lang="en-IN" sz="2000" b="1" dirty="0"/>
              <a:t>RAGAS</a:t>
            </a:r>
            <a:r>
              <a:rPr lang="en-IN" sz="2000" dirty="0"/>
              <a:t> framework was used. It evaluates both the retrieval performance and the quality of the generated responses.</a:t>
            </a:r>
          </a:p>
          <a:p>
            <a:pPr marL="114300" indent="0">
              <a:buNone/>
            </a:pPr>
            <a:endParaRPr lang="en-IN" sz="500" dirty="0"/>
          </a:p>
          <a:p>
            <a:pPr marL="114300" indent="0">
              <a:buNone/>
            </a:pPr>
            <a:r>
              <a:rPr lang="en-IN" sz="2000" b="1" dirty="0"/>
              <a:t>Evaluation Metrics</a:t>
            </a:r>
          </a:p>
          <a:p>
            <a:pPr marL="114300" indent="0">
              <a:buNone/>
            </a:pPr>
            <a:endParaRPr lang="en-IN" sz="2000" b="1" dirty="0"/>
          </a:p>
        </p:txBody>
      </p:sp>
      <p:graphicFrame>
        <p:nvGraphicFramePr>
          <p:cNvPr id="4" name="Table 3">
            <a:extLst>
              <a:ext uri="{FF2B5EF4-FFF2-40B4-BE49-F238E27FC236}">
                <a16:creationId xmlns:a16="http://schemas.microsoft.com/office/drawing/2014/main" id="{4E79F0EC-D8B7-DAE2-877B-4544069A503C}"/>
              </a:ext>
            </a:extLst>
          </p:cNvPr>
          <p:cNvGraphicFramePr>
            <a:graphicFrameLocks noGrp="1"/>
          </p:cNvGraphicFramePr>
          <p:nvPr>
            <p:extLst>
              <p:ext uri="{D42A27DB-BD31-4B8C-83A1-F6EECF244321}">
                <p14:modId xmlns:p14="http://schemas.microsoft.com/office/powerpoint/2010/main" val="1927054587"/>
              </p:ext>
            </p:extLst>
          </p:nvPr>
        </p:nvGraphicFramePr>
        <p:xfrm>
          <a:off x="838200" y="2812573"/>
          <a:ext cx="9829800" cy="2359195"/>
        </p:xfrm>
        <a:graphic>
          <a:graphicData uri="http://schemas.openxmlformats.org/drawingml/2006/table">
            <a:tbl>
              <a:tblPr/>
              <a:tblGrid>
                <a:gridCol w="2028919">
                  <a:extLst>
                    <a:ext uri="{9D8B030D-6E8A-4147-A177-3AD203B41FA5}">
                      <a16:colId xmlns:a16="http://schemas.microsoft.com/office/drawing/2014/main" val="2450165813"/>
                    </a:ext>
                  </a:extLst>
                </a:gridCol>
                <a:gridCol w="7800881">
                  <a:extLst>
                    <a:ext uri="{9D8B030D-6E8A-4147-A177-3AD203B41FA5}">
                      <a16:colId xmlns:a16="http://schemas.microsoft.com/office/drawing/2014/main" val="2848663218"/>
                    </a:ext>
                  </a:extLst>
                </a:gridCol>
              </a:tblGrid>
              <a:tr h="471839">
                <a:tc>
                  <a:txBody>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Metric</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Purpose</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0838882"/>
                  </a:ext>
                </a:extLst>
              </a:tr>
              <a:tr h="471839">
                <a:tc>
                  <a:txBody>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Answer Relevancy</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Measures how well the generated answer matches the user's 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5027493"/>
                  </a:ext>
                </a:extLst>
              </a:tr>
              <a:tr h="471839">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Context Precision</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Measures whether the retrieved documents are relevant to the query.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4424000"/>
                  </a:ext>
                </a:extLst>
              </a:tr>
              <a:tr h="471839">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Faithfulness</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latin typeface="Calibri" panose="020F0502020204030204" pitchFamily="34" charset="0"/>
                          <a:ea typeface="Calibri" panose="020F0502020204030204" pitchFamily="34" charset="0"/>
                          <a:cs typeface="Calibri" panose="020F0502020204030204" pitchFamily="34" charset="0"/>
                        </a:rPr>
                        <a:t>Checks if the answer is supported by the retrieved context and is free from hallucinations.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1713221"/>
                  </a:ext>
                </a:extLst>
              </a:tr>
              <a:tr h="471839">
                <a:tc>
                  <a:txBody>
                    <a:bodyPr/>
                    <a:lstStyle/>
                    <a:p>
                      <a:pPr>
                        <a:buNone/>
                      </a:pPr>
                      <a:r>
                        <a:rPr lang="en-IN" b="1">
                          <a:latin typeface="Calibri" panose="020F0502020204030204" pitchFamily="34" charset="0"/>
                          <a:ea typeface="Calibri" panose="020F0502020204030204" pitchFamily="34" charset="0"/>
                          <a:cs typeface="Calibri" panose="020F0502020204030204" pitchFamily="34" charset="0"/>
                        </a:rPr>
                        <a:t>Context Recall</a:t>
                      </a:r>
                      <a:endParaRPr lang="en-IN">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Calibri" panose="020F0502020204030204" pitchFamily="34" charset="0"/>
                          <a:ea typeface="Calibri" panose="020F0502020204030204" pitchFamily="34" charset="0"/>
                          <a:cs typeface="Calibri" panose="020F0502020204030204" pitchFamily="34" charset="0"/>
                        </a:rPr>
                        <a:t>Measures whether the retrieved context contains all the necessary information to answer the 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7059574"/>
                  </a:ext>
                </a:extLst>
              </a:tr>
            </a:tbl>
          </a:graphicData>
        </a:graphic>
      </p:graphicFrame>
    </p:spTree>
    <p:extLst>
      <p:ext uri="{BB962C8B-B14F-4D97-AF65-F5344CB8AC3E}">
        <p14:creationId xmlns:p14="http://schemas.microsoft.com/office/powerpoint/2010/main" val="3560068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7C478-4B8A-296D-18FB-9FED6BCB078C}"/>
              </a:ext>
            </a:extLst>
          </p:cNvPr>
          <p:cNvSpPr>
            <a:spLocks noGrp="1"/>
          </p:cNvSpPr>
          <p:nvPr>
            <p:ph type="title"/>
          </p:nvPr>
        </p:nvSpPr>
        <p:spPr>
          <a:xfrm>
            <a:off x="838200" y="365126"/>
            <a:ext cx="10515600" cy="725738"/>
          </a:xfrm>
        </p:spPr>
        <p:txBody>
          <a:bodyPr>
            <a:normAutofit/>
          </a:bodyPr>
          <a:lstStyle/>
          <a:p>
            <a:pPr algn="ctr"/>
            <a:r>
              <a:rPr lang="en-IN" sz="3600" b="1" i="1" u="sng" dirty="0">
                <a:solidFill>
                  <a:srgbClr val="FF0000"/>
                </a:solidFill>
              </a:rPr>
              <a:t>RAGAS Evaluation Results</a:t>
            </a:r>
            <a:endParaRPr lang="en-IN" sz="3600" i="1" u="sng" dirty="0">
              <a:solidFill>
                <a:srgbClr val="FF0000"/>
              </a:solidFill>
            </a:endParaRPr>
          </a:p>
        </p:txBody>
      </p:sp>
      <p:sp>
        <p:nvSpPr>
          <p:cNvPr id="3" name="Text Placeholder 2">
            <a:extLst>
              <a:ext uri="{FF2B5EF4-FFF2-40B4-BE49-F238E27FC236}">
                <a16:creationId xmlns:a16="http://schemas.microsoft.com/office/drawing/2014/main" id="{94CDD31B-B075-3F03-2C47-441707D71795}"/>
              </a:ext>
            </a:extLst>
          </p:cNvPr>
          <p:cNvSpPr>
            <a:spLocks noGrp="1"/>
          </p:cNvSpPr>
          <p:nvPr>
            <p:ph type="body" idx="1"/>
          </p:nvPr>
        </p:nvSpPr>
        <p:spPr>
          <a:xfrm>
            <a:off x="838200" y="3293807"/>
            <a:ext cx="10515600" cy="1927404"/>
          </a:xfrm>
        </p:spPr>
        <p:txBody>
          <a:bodyPr>
            <a:noAutofit/>
          </a:bodyPr>
          <a:lstStyle/>
          <a:p>
            <a:pPr marL="114300" indent="0">
              <a:buNone/>
            </a:pPr>
            <a:r>
              <a:rPr lang="en-IN" sz="2000" b="1" dirty="0"/>
              <a:t>Performance Summary</a:t>
            </a:r>
          </a:p>
          <a:p>
            <a:pPr marL="114300" indent="0">
              <a:buNone/>
            </a:pPr>
            <a:endParaRPr lang="en-IN" sz="100" b="1" dirty="0"/>
          </a:p>
          <a:p>
            <a:pPr>
              <a:buFont typeface="Wingdings" panose="05000000000000000000" pitchFamily="2" charset="2"/>
              <a:buChar char="§"/>
            </a:pPr>
            <a:r>
              <a:rPr lang="en-IN" sz="2000" dirty="0"/>
              <a:t>Highly relevant answers to user queries. </a:t>
            </a:r>
          </a:p>
          <a:p>
            <a:pPr>
              <a:buFont typeface="Wingdings" panose="05000000000000000000" pitchFamily="2" charset="2"/>
              <a:buChar char="§"/>
            </a:pPr>
            <a:r>
              <a:rPr lang="en-IN" sz="2000" dirty="0"/>
              <a:t>Accurate retrieval of medical documents. </a:t>
            </a:r>
          </a:p>
          <a:p>
            <a:pPr>
              <a:buFont typeface="Wingdings" panose="05000000000000000000" pitchFamily="2" charset="2"/>
              <a:buChar char="§"/>
            </a:pPr>
            <a:r>
              <a:rPr lang="en-IN" sz="2000" dirty="0"/>
              <a:t>Minimal hallucinations due to grounded responses. </a:t>
            </a:r>
          </a:p>
          <a:p>
            <a:pPr>
              <a:buFont typeface="Wingdings" panose="05000000000000000000" pitchFamily="2" charset="2"/>
              <a:buChar char="§"/>
            </a:pPr>
            <a:r>
              <a:rPr lang="en-IN" sz="2000" dirty="0"/>
              <a:t>Reliable evidence-based healthcare information. </a:t>
            </a:r>
          </a:p>
        </p:txBody>
      </p:sp>
      <p:graphicFrame>
        <p:nvGraphicFramePr>
          <p:cNvPr id="4" name="Table 3">
            <a:extLst>
              <a:ext uri="{FF2B5EF4-FFF2-40B4-BE49-F238E27FC236}">
                <a16:creationId xmlns:a16="http://schemas.microsoft.com/office/drawing/2014/main" id="{04FC3ED7-E70B-9F5F-EEE9-B627DF254EDC}"/>
              </a:ext>
            </a:extLst>
          </p:cNvPr>
          <p:cNvGraphicFramePr>
            <a:graphicFrameLocks noGrp="1"/>
          </p:cNvGraphicFramePr>
          <p:nvPr>
            <p:extLst>
              <p:ext uri="{D42A27DB-BD31-4B8C-83A1-F6EECF244321}">
                <p14:modId xmlns:p14="http://schemas.microsoft.com/office/powerpoint/2010/main" val="3161944227"/>
              </p:ext>
            </p:extLst>
          </p:nvPr>
        </p:nvGraphicFramePr>
        <p:xfrm>
          <a:off x="2585236" y="1159690"/>
          <a:ext cx="6647253" cy="1828800"/>
        </p:xfrm>
        <a:graphic>
          <a:graphicData uri="http://schemas.openxmlformats.org/drawingml/2006/table">
            <a:tbl>
              <a:tblPr/>
              <a:tblGrid>
                <a:gridCol w="1997656">
                  <a:extLst>
                    <a:ext uri="{9D8B030D-6E8A-4147-A177-3AD203B41FA5}">
                      <a16:colId xmlns:a16="http://schemas.microsoft.com/office/drawing/2014/main" val="500678293"/>
                    </a:ext>
                  </a:extLst>
                </a:gridCol>
                <a:gridCol w="4649597">
                  <a:extLst>
                    <a:ext uri="{9D8B030D-6E8A-4147-A177-3AD203B41FA5}">
                      <a16:colId xmlns:a16="http://schemas.microsoft.com/office/drawing/2014/main" val="3920046181"/>
                    </a:ext>
                  </a:extLst>
                </a:gridCol>
              </a:tblGrid>
              <a:tr h="0">
                <a:tc>
                  <a:txBody>
                    <a:bodyPr/>
                    <a:lstStyle/>
                    <a:p>
                      <a:pPr>
                        <a:buNone/>
                      </a:pPr>
                      <a:r>
                        <a:rPr lang="en-IN" sz="1800" b="1" dirty="0">
                          <a:latin typeface="Calibri" panose="020F0502020204030204" pitchFamily="34" charset="0"/>
                          <a:ea typeface="Calibri" panose="020F0502020204030204" pitchFamily="34" charset="0"/>
                          <a:cs typeface="Calibri" panose="020F0502020204030204" pitchFamily="34" charset="0"/>
                        </a:rPr>
                        <a:t>Metric</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800" b="1">
                          <a:latin typeface="Calibri" panose="020F0502020204030204" pitchFamily="34" charset="0"/>
                          <a:ea typeface="Calibri" panose="020F0502020204030204" pitchFamily="34" charset="0"/>
                          <a:cs typeface="Calibri" panose="020F0502020204030204" pitchFamily="34" charset="0"/>
                        </a:rPr>
                        <a:t>Score</a:t>
                      </a:r>
                      <a:endParaRPr lang="en-IN" sz="180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3039228"/>
                  </a:ext>
                </a:extLst>
              </a:tr>
              <a:tr h="0">
                <a:tc>
                  <a:txBody>
                    <a:bodyPr/>
                    <a:lstStyle/>
                    <a:p>
                      <a:pPr>
                        <a:buNone/>
                      </a:pPr>
                      <a:r>
                        <a:rPr lang="en-IN" sz="1800">
                          <a:latin typeface="Calibri" panose="020F0502020204030204" pitchFamily="34" charset="0"/>
                          <a:ea typeface="Calibri" panose="020F0502020204030204" pitchFamily="34" charset="0"/>
                          <a:cs typeface="Calibri" panose="020F0502020204030204" pitchFamily="34" charset="0"/>
                        </a:rPr>
                        <a:t>Answer Relevancy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800" b="1" dirty="0">
                          <a:latin typeface="Calibri" panose="020F0502020204030204" pitchFamily="34" charset="0"/>
                          <a:ea typeface="Calibri" panose="020F0502020204030204" pitchFamily="34" charset="0"/>
                          <a:cs typeface="Calibri" panose="020F0502020204030204" pitchFamily="34" charset="0"/>
                        </a:rPr>
                        <a:t>0.87</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5839969"/>
                  </a:ext>
                </a:extLst>
              </a:tr>
              <a:tr h="0">
                <a:tc>
                  <a:txBody>
                    <a:bodyPr/>
                    <a:lstStyle/>
                    <a:p>
                      <a:pPr>
                        <a:buNone/>
                      </a:pPr>
                      <a:r>
                        <a:rPr lang="en-IN" sz="1800">
                          <a:latin typeface="Calibri" panose="020F0502020204030204" pitchFamily="34" charset="0"/>
                          <a:ea typeface="Calibri" panose="020F0502020204030204" pitchFamily="34" charset="0"/>
                          <a:cs typeface="Calibri" panose="020F0502020204030204" pitchFamily="34" charset="0"/>
                        </a:rPr>
                        <a:t>Context Precision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800" b="1" dirty="0">
                          <a:latin typeface="Calibri" panose="020F0502020204030204" pitchFamily="34" charset="0"/>
                          <a:ea typeface="Calibri" panose="020F0502020204030204" pitchFamily="34" charset="0"/>
                          <a:cs typeface="Calibri" panose="020F0502020204030204" pitchFamily="34" charset="0"/>
                        </a:rPr>
                        <a:t>0.90</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6012000"/>
                  </a:ext>
                </a:extLst>
              </a:tr>
              <a:tr h="0">
                <a:tc>
                  <a:txBody>
                    <a:bodyPr/>
                    <a:lstStyle/>
                    <a:p>
                      <a:pPr>
                        <a:buNone/>
                      </a:pPr>
                      <a:r>
                        <a:rPr lang="en-IN" sz="1800" dirty="0">
                          <a:latin typeface="Calibri" panose="020F0502020204030204" pitchFamily="34" charset="0"/>
                          <a:ea typeface="Calibri" panose="020F0502020204030204" pitchFamily="34" charset="0"/>
                          <a:cs typeface="Calibri" panose="020F0502020204030204" pitchFamily="34" charset="0"/>
                        </a:rPr>
                        <a:t>Faithfulness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800" b="1" dirty="0">
                          <a:latin typeface="Calibri" panose="020F0502020204030204" pitchFamily="34" charset="0"/>
                          <a:ea typeface="Calibri" panose="020F0502020204030204" pitchFamily="34" charset="0"/>
                          <a:cs typeface="Calibri" panose="020F0502020204030204" pitchFamily="34" charset="0"/>
                        </a:rPr>
                        <a:t>0.94</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1769351"/>
                  </a:ext>
                </a:extLst>
              </a:tr>
              <a:tr h="0">
                <a:tc>
                  <a:txBody>
                    <a:bodyPr/>
                    <a:lstStyle/>
                    <a:p>
                      <a:pPr>
                        <a:buNone/>
                      </a:pPr>
                      <a:r>
                        <a:rPr lang="en-IN" sz="1800">
                          <a:latin typeface="Calibri" panose="020F0502020204030204" pitchFamily="34" charset="0"/>
                          <a:ea typeface="Calibri" panose="020F0502020204030204" pitchFamily="34" charset="0"/>
                          <a:cs typeface="Calibri" panose="020F0502020204030204" pitchFamily="34" charset="0"/>
                        </a:rPr>
                        <a:t>Context Recall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800" b="1" dirty="0">
                          <a:latin typeface="Calibri" panose="020F0502020204030204" pitchFamily="34" charset="0"/>
                          <a:ea typeface="Calibri" panose="020F0502020204030204" pitchFamily="34" charset="0"/>
                          <a:cs typeface="Calibri" panose="020F0502020204030204" pitchFamily="34" charset="0"/>
                        </a:rPr>
                        <a:t>0.84</a:t>
                      </a:r>
                      <a:endParaRPr lang="en-IN" sz="18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941131"/>
                  </a:ext>
                </a:extLst>
              </a:tr>
            </a:tbl>
          </a:graphicData>
        </a:graphic>
      </p:graphicFrame>
    </p:spTree>
    <p:extLst>
      <p:ext uri="{BB962C8B-B14F-4D97-AF65-F5344CB8AC3E}">
        <p14:creationId xmlns:p14="http://schemas.microsoft.com/office/powerpoint/2010/main" val="2129254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DF2B8E4-3966-96FD-516F-1CA7617B2BA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3F64503-3DBD-3201-0380-9DE67DCAD2C5}"/>
              </a:ext>
            </a:extLst>
          </p:cNvPr>
          <p:cNvSpPr txBox="1"/>
          <p:nvPr/>
        </p:nvSpPr>
        <p:spPr>
          <a:xfrm>
            <a:off x="549489" y="564531"/>
            <a:ext cx="11093022" cy="506292"/>
          </a:xfrm>
          <a:prstGeom prst="rect">
            <a:avLst/>
          </a:prstGeom>
          <a:noFill/>
        </p:spPr>
        <p:txBody>
          <a:bodyPr wrap="square">
            <a:spAutoFit/>
          </a:bodyPr>
          <a:lstStyle/>
          <a:p>
            <a:pPr algn="just">
              <a:lnSpc>
                <a:spcPct val="150000"/>
              </a:lnSpc>
            </a:pPr>
            <a:r>
              <a:rPr lang="en-US" sz="2000" dirty="0">
                <a:latin typeface="Calibri" panose="020F0502020204030204" pitchFamily="34" charset="0"/>
                <a:ea typeface="Calibri" panose="020F0502020204030204" pitchFamily="34" charset="0"/>
                <a:cs typeface="Calibri" panose="020F0502020204030204" pitchFamily="34" charset="0"/>
              </a:rPr>
              <a:t>For deployment </a:t>
            </a:r>
            <a:r>
              <a:rPr lang="en-US" sz="2000" b="1" dirty="0" err="1">
                <a:latin typeface="Calibri" panose="020F0502020204030204" pitchFamily="34" charset="0"/>
                <a:ea typeface="Calibri" panose="020F0502020204030204" pitchFamily="34" charset="0"/>
                <a:cs typeface="Calibri" panose="020F0502020204030204" pitchFamily="34" charset="0"/>
              </a:rPr>
              <a:t>Streamlit</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dirty="0">
                <a:latin typeface="Calibri" panose="020F0502020204030204" pitchFamily="34" charset="0"/>
                <a:ea typeface="Calibri" panose="020F0502020204030204" pitchFamily="34" charset="0"/>
                <a:cs typeface="Calibri" panose="020F0502020204030204" pitchFamily="34" charset="0"/>
              </a:rPr>
              <a:t>build a simple UI where users can input data and get predictions.</a:t>
            </a:r>
          </a:p>
        </p:txBody>
      </p:sp>
      <p:sp>
        <p:nvSpPr>
          <p:cNvPr id="9" name="TextBox 8">
            <a:extLst>
              <a:ext uri="{FF2B5EF4-FFF2-40B4-BE49-F238E27FC236}">
                <a16:creationId xmlns:a16="http://schemas.microsoft.com/office/drawing/2014/main" id="{6F1B65BF-BD36-E50C-D4C2-3F60A7D88B4C}"/>
              </a:ext>
            </a:extLst>
          </p:cNvPr>
          <p:cNvSpPr txBox="1"/>
          <p:nvPr/>
        </p:nvSpPr>
        <p:spPr>
          <a:xfrm>
            <a:off x="3705532" y="-158152"/>
            <a:ext cx="4296697" cy="47099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RPr/>
            </a:defPPr>
            <a:lvl1pPr marL="0" indent="0" algn="ctr">
              <a:lnSpc>
                <a:spcPct val="150000"/>
              </a:lnSpc>
              <a:buClr>
                <a:schemeClr val="dk1"/>
              </a:buClr>
              <a:buSzPts val="1100"/>
              <a:buNone/>
              <a:defRPr sz="2400" b="1">
                <a:solidFill>
                  <a:schemeClr val="dk1"/>
                </a:solidFill>
                <a:latin typeface="Roboto Medium" panose="02000000000000000000" pitchFamily="2" charset="0"/>
                <a:ea typeface="Roboto Medium" panose="02000000000000000000" pitchFamily="2" charset="0"/>
                <a:cs typeface="Roboto Medium" panose="02000000000000000000" pitchFamily="2" charset="0"/>
              </a:defRPr>
            </a:lvl1pPr>
            <a:lvl2pPr algn="ctr">
              <a:buClr>
                <a:schemeClr val="dk1"/>
              </a:buClr>
              <a:buSzPts val="2400"/>
              <a:buFont typeface="Montserrat"/>
              <a:buNone/>
              <a:defRPr sz="2400" b="1">
                <a:solidFill>
                  <a:schemeClr val="dk1"/>
                </a:solidFill>
                <a:latin typeface="Montserrat"/>
                <a:ea typeface="Montserrat"/>
                <a:cs typeface="Montserrat"/>
              </a:defRPr>
            </a:lvl2pPr>
            <a:lvl3pPr algn="ctr">
              <a:buClr>
                <a:schemeClr val="dk1"/>
              </a:buClr>
              <a:buSzPts val="2400"/>
              <a:buFont typeface="Montserrat"/>
              <a:buNone/>
              <a:defRPr sz="2400" b="1">
                <a:solidFill>
                  <a:schemeClr val="dk1"/>
                </a:solidFill>
                <a:latin typeface="Montserrat"/>
                <a:ea typeface="Montserrat"/>
                <a:cs typeface="Montserrat"/>
              </a:defRPr>
            </a:lvl3pPr>
            <a:lvl4pPr algn="ctr">
              <a:buClr>
                <a:schemeClr val="dk1"/>
              </a:buClr>
              <a:buSzPts val="2400"/>
              <a:buFont typeface="Montserrat"/>
              <a:buNone/>
              <a:defRPr sz="2400" b="1">
                <a:solidFill>
                  <a:schemeClr val="dk1"/>
                </a:solidFill>
                <a:latin typeface="Montserrat"/>
                <a:ea typeface="Montserrat"/>
                <a:cs typeface="Montserrat"/>
              </a:defRPr>
            </a:lvl4pPr>
            <a:lvl5pPr algn="ctr">
              <a:buClr>
                <a:schemeClr val="dk1"/>
              </a:buClr>
              <a:buSzPts val="2400"/>
              <a:buFont typeface="Montserrat"/>
              <a:buNone/>
              <a:defRPr sz="2400" b="1">
                <a:solidFill>
                  <a:schemeClr val="dk1"/>
                </a:solidFill>
                <a:latin typeface="Montserrat"/>
                <a:ea typeface="Montserrat"/>
                <a:cs typeface="Montserrat"/>
              </a:defRPr>
            </a:lvl5pPr>
            <a:lvl6pPr algn="ctr">
              <a:buClr>
                <a:schemeClr val="dk1"/>
              </a:buClr>
              <a:buSzPts val="2400"/>
              <a:buFont typeface="Montserrat"/>
              <a:buNone/>
              <a:defRPr sz="2400" b="1">
                <a:solidFill>
                  <a:schemeClr val="dk1"/>
                </a:solidFill>
                <a:latin typeface="Montserrat"/>
                <a:ea typeface="Montserrat"/>
                <a:cs typeface="Montserrat"/>
              </a:defRPr>
            </a:lvl6pPr>
            <a:lvl7pPr algn="ctr">
              <a:buClr>
                <a:schemeClr val="dk1"/>
              </a:buClr>
              <a:buSzPts val="2400"/>
              <a:buFont typeface="Montserrat"/>
              <a:buNone/>
              <a:defRPr sz="2400" b="1">
                <a:solidFill>
                  <a:schemeClr val="dk1"/>
                </a:solidFill>
                <a:latin typeface="Montserrat"/>
                <a:ea typeface="Montserrat"/>
                <a:cs typeface="Montserrat"/>
              </a:defRPr>
            </a:lvl7pPr>
            <a:lvl8pPr algn="ctr">
              <a:buClr>
                <a:schemeClr val="dk1"/>
              </a:buClr>
              <a:buSzPts val="2400"/>
              <a:buFont typeface="Montserrat"/>
              <a:buNone/>
              <a:defRPr sz="2400" b="1">
                <a:solidFill>
                  <a:schemeClr val="dk1"/>
                </a:solidFill>
                <a:latin typeface="Montserrat"/>
                <a:ea typeface="Montserrat"/>
                <a:cs typeface="Montserrat"/>
              </a:defRPr>
            </a:lvl8pPr>
            <a:lvl9pPr algn="ctr">
              <a:buClr>
                <a:schemeClr val="dk1"/>
              </a:buClr>
              <a:buSzPts val="2400"/>
              <a:buFont typeface="Montserrat"/>
              <a:buNone/>
              <a:defRPr sz="2400" b="1">
                <a:solidFill>
                  <a:schemeClr val="dk1"/>
                </a:solidFill>
                <a:latin typeface="Montserrat"/>
                <a:ea typeface="Montserrat"/>
                <a:cs typeface="Montserrat"/>
              </a:defRPr>
            </a:lvl9pPr>
          </a:lstStyle>
          <a:p>
            <a:r>
              <a:rPr lang="en-IN" sz="3200" i="1" u="sng" dirty="0">
                <a:solidFill>
                  <a:srgbClr val="FF0000"/>
                </a:solidFill>
                <a:latin typeface="Calibri" panose="020F0502020204030204" pitchFamily="34" charset="0"/>
                <a:ea typeface="Calibri" panose="020F0502020204030204" pitchFamily="34" charset="0"/>
                <a:cs typeface="Calibri" panose="020F0502020204030204" pitchFamily="34" charset="0"/>
              </a:rPr>
              <a:t>Deployment </a:t>
            </a:r>
          </a:p>
        </p:txBody>
      </p:sp>
      <p:pic>
        <p:nvPicPr>
          <p:cNvPr id="3" name="Picture 2">
            <a:extLst>
              <a:ext uri="{FF2B5EF4-FFF2-40B4-BE49-F238E27FC236}">
                <a16:creationId xmlns:a16="http://schemas.microsoft.com/office/drawing/2014/main" id="{6A0CA410-3B7C-66B2-5F37-CE7DC0CC3755}"/>
              </a:ext>
            </a:extLst>
          </p:cNvPr>
          <p:cNvPicPr>
            <a:picLocks noChangeAspect="1"/>
          </p:cNvPicPr>
          <p:nvPr/>
        </p:nvPicPr>
        <p:blipFill>
          <a:blip r:embed="rId3"/>
          <a:stretch>
            <a:fillRect/>
          </a:stretch>
        </p:blipFill>
        <p:spPr>
          <a:xfrm>
            <a:off x="0" y="1150374"/>
            <a:ext cx="12192000" cy="5707626"/>
          </a:xfrm>
          <a:prstGeom prst="rect">
            <a:avLst/>
          </a:prstGeom>
        </p:spPr>
      </p:pic>
    </p:spTree>
    <p:extLst>
      <p:ext uri="{BB962C8B-B14F-4D97-AF65-F5344CB8AC3E}">
        <p14:creationId xmlns:p14="http://schemas.microsoft.com/office/powerpoint/2010/main" val="2511420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4640087-62CA-A676-96A0-1329CA81EC6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C026D4B-4A3A-E44D-013A-C4AC6BB869D3}"/>
              </a:ext>
            </a:extLst>
          </p:cNvPr>
          <p:cNvSpPr txBox="1"/>
          <p:nvPr/>
        </p:nvSpPr>
        <p:spPr>
          <a:xfrm>
            <a:off x="1892968" y="337281"/>
            <a:ext cx="8240863" cy="646331"/>
          </a:xfrm>
          <a:prstGeom prst="rect">
            <a:avLst/>
          </a:prstGeom>
          <a:noFill/>
        </p:spPr>
        <p:txBody>
          <a:bodyPr wrap="square">
            <a:spAutoFit/>
          </a:bodyPr>
          <a:lstStyle/>
          <a:p>
            <a:pPr algn="ctr"/>
            <a:r>
              <a:rPr lang="en-US"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rPr>
              <a:t>Challenges Faced</a:t>
            </a:r>
          </a:p>
        </p:txBody>
      </p:sp>
      <p:graphicFrame>
        <p:nvGraphicFramePr>
          <p:cNvPr id="2" name="Table 1">
            <a:extLst>
              <a:ext uri="{FF2B5EF4-FFF2-40B4-BE49-F238E27FC236}">
                <a16:creationId xmlns:a16="http://schemas.microsoft.com/office/drawing/2014/main" id="{D322B556-7D65-224E-73E7-0297502E31F6}"/>
              </a:ext>
            </a:extLst>
          </p:cNvPr>
          <p:cNvGraphicFramePr>
            <a:graphicFrameLocks noGrp="1"/>
          </p:cNvGraphicFramePr>
          <p:nvPr>
            <p:extLst>
              <p:ext uri="{D42A27DB-BD31-4B8C-83A1-F6EECF244321}">
                <p14:modId xmlns:p14="http://schemas.microsoft.com/office/powerpoint/2010/main" val="1084681796"/>
              </p:ext>
            </p:extLst>
          </p:nvPr>
        </p:nvGraphicFramePr>
        <p:xfrm>
          <a:off x="755598" y="1186809"/>
          <a:ext cx="10738312" cy="4496236"/>
        </p:xfrm>
        <a:graphic>
          <a:graphicData uri="http://schemas.openxmlformats.org/drawingml/2006/table">
            <a:tbl>
              <a:tblPr/>
              <a:tblGrid>
                <a:gridCol w="5369156">
                  <a:extLst>
                    <a:ext uri="{9D8B030D-6E8A-4147-A177-3AD203B41FA5}">
                      <a16:colId xmlns:a16="http://schemas.microsoft.com/office/drawing/2014/main" val="1021829580"/>
                    </a:ext>
                  </a:extLst>
                </a:gridCol>
                <a:gridCol w="5369156">
                  <a:extLst>
                    <a:ext uri="{9D8B030D-6E8A-4147-A177-3AD203B41FA5}">
                      <a16:colId xmlns:a16="http://schemas.microsoft.com/office/drawing/2014/main" val="1774616154"/>
                    </a:ext>
                  </a:extLst>
                </a:gridCol>
              </a:tblGrid>
              <a:tr h="390977">
                <a:tc>
                  <a:txBody>
                    <a:bodyPr/>
                    <a:lstStyle/>
                    <a:p>
                      <a:pPr>
                        <a:buNone/>
                      </a:pPr>
                      <a:r>
                        <a:rPr lang="en-IN" b="1"/>
                        <a:t>Challenge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Solution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6159015"/>
                  </a:ext>
                </a:extLst>
              </a:tr>
              <a:tr h="664661">
                <a:tc>
                  <a:txBody>
                    <a:bodyPr/>
                    <a:lstStyle/>
                    <a:p>
                      <a:pPr>
                        <a:buNone/>
                      </a:pPr>
                      <a:r>
                        <a:rPr lang="en-IN"/>
                        <a:t>Large medical PDF files required significant preprocessing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Split documents into smaller chunks (700 characters with 80-character overlap).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9644072"/>
                  </a:ext>
                </a:extLst>
              </a:tr>
              <a:tr h="664661">
                <a:tc>
                  <a:txBody>
                    <a:bodyPr/>
                    <a:lstStyle/>
                    <a:p>
                      <a:pPr>
                        <a:buNone/>
                      </a:pPr>
                      <a:r>
                        <a:rPr lang="en-IN" dirty="0"/>
                        <a:t>Retrieving irrelevant or duplicate document chunks.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Implemented Hybrid Retrieval using </a:t>
                      </a:r>
                      <a:r>
                        <a:rPr lang="en-IN" b="1"/>
                        <a:t>BM25 + MMR</a:t>
                      </a:r>
                      <a:r>
                        <a:rPr lang="en-IN"/>
                        <a:t> and Context Compression.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8463298"/>
                  </a:ext>
                </a:extLst>
              </a:tr>
              <a:tr h="664661">
                <a:tc>
                  <a:txBody>
                    <a:bodyPr/>
                    <a:lstStyle/>
                    <a:p>
                      <a:pPr>
                        <a:buNone/>
                      </a:pPr>
                      <a:r>
                        <a:rPr lang="en-IN"/>
                        <a:t>LLM hallucinations and unsupported answers.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Restricted the LLM to generate answers only from the retrieved context using prompt engineering.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0151656"/>
                  </a:ext>
                </a:extLst>
              </a:tr>
              <a:tr h="390977">
                <a:tc>
                  <a:txBody>
                    <a:bodyPr/>
                    <a:lstStyle/>
                    <a:p>
                      <a:pPr>
                        <a:buNone/>
                      </a:pPr>
                      <a:r>
                        <a:rPr lang="en-IN"/>
                        <a:t>Finding semantically relevant documents for complex queries.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Used </a:t>
                      </a:r>
                      <a:r>
                        <a:rPr lang="en-IN" b="1"/>
                        <a:t>HyDE Query Expansion</a:t>
                      </a:r>
                      <a:r>
                        <a:rPr lang="en-IN"/>
                        <a:t> to improve retrieval quality.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8298724"/>
                  </a:ext>
                </a:extLst>
              </a:tr>
              <a:tr h="390977">
                <a:tc>
                  <a:txBody>
                    <a:bodyPr/>
                    <a:lstStyle/>
                    <a:p>
                      <a:pPr>
                        <a:buNone/>
                      </a:pPr>
                      <a:r>
                        <a:rPr lang="en-IN"/>
                        <a:t>Managing large numbers of embeddings efficiently.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Stored embeddings in </a:t>
                      </a:r>
                      <a:r>
                        <a:rPr lang="en-IN" b="1"/>
                        <a:t>ChromaDB</a:t>
                      </a:r>
                      <a:r>
                        <a:rPr lang="en-IN"/>
                        <a:t> for fast similarity 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2071368"/>
                  </a:ext>
                </a:extLst>
              </a:tr>
              <a:tr h="664661">
                <a:tc>
                  <a:txBody>
                    <a:bodyPr/>
                    <a:lstStyle/>
                    <a:p>
                      <a:pPr>
                        <a:buNone/>
                      </a:pPr>
                      <a:r>
                        <a:rPr lang="en-IN"/>
                        <a:t>Evaluating RAG system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Used the </a:t>
                      </a:r>
                      <a:r>
                        <a:rPr lang="en-IN" b="1" dirty="0"/>
                        <a:t>RAGAS</a:t>
                      </a:r>
                      <a:r>
                        <a:rPr lang="en-IN" dirty="0"/>
                        <a:t> framework to measure Answer Relevancy, Context Precision, Faithfulness, and Context Recall.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5729112"/>
                  </a:ext>
                </a:extLst>
              </a:tr>
              <a:tr h="664661">
                <a:tc>
                  <a:txBody>
                    <a:bodyPr/>
                    <a:lstStyle/>
                    <a:p>
                      <a:pPr>
                        <a:buNone/>
                      </a:pPr>
                      <a:r>
                        <a:rPr lang="en-IN"/>
                        <a:t>Maintaining fast response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Used </a:t>
                      </a:r>
                      <a:r>
                        <a:rPr lang="en-IN" b="1" dirty="0" err="1"/>
                        <a:t>Groq</a:t>
                      </a:r>
                      <a:r>
                        <a:rPr lang="en-IN" b="1" dirty="0"/>
                        <a:t> </a:t>
                      </a:r>
                      <a:r>
                        <a:rPr lang="en-IN" sz="1400" b="1" i="0" u="none" strike="noStrike" cap="none" dirty="0" err="1">
                          <a:solidFill>
                            <a:schemeClr val="tx1"/>
                          </a:solidFill>
                          <a:effectLst/>
                          <a:latin typeface="+mn-lt"/>
                          <a:ea typeface="+mn-ea"/>
                          <a:cs typeface="+mn-cs"/>
                          <a:sym typeface="Arial"/>
                        </a:rPr>
                        <a:t>openai</a:t>
                      </a:r>
                      <a:r>
                        <a:rPr lang="en-IN" sz="1400" b="1" i="0" u="none" strike="noStrike" cap="none" dirty="0">
                          <a:solidFill>
                            <a:schemeClr val="tx1"/>
                          </a:solidFill>
                          <a:effectLst/>
                          <a:latin typeface="+mn-lt"/>
                          <a:ea typeface="+mn-ea"/>
                          <a:cs typeface="+mn-cs"/>
                          <a:sym typeface="Arial"/>
                        </a:rPr>
                        <a:t>/gpt-oss-20b</a:t>
                      </a:r>
                      <a:r>
                        <a:rPr lang="en-IN" dirty="0"/>
                        <a:t>, which provides low-latency inference.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50974"/>
                  </a:ext>
                </a:extLst>
              </a:tr>
            </a:tbl>
          </a:graphicData>
        </a:graphic>
      </p:graphicFrame>
    </p:spTree>
    <p:extLst>
      <p:ext uri="{BB962C8B-B14F-4D97-AF65-F5344CB8AC3E}">
        <p14:creationId xmlns:p14="http://schemas.microsoft.com/office/powerpoint/2010/main" val="755307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FDD83-0168-762B-06EF-831728958E81}"/>
              </a:ext>
            </a:extLst>
          </p:cNvPr>
          <p:cNvSpPr>
            <a:spLocks noGrp="1"/>
          </p:cNvSpPr>
          <p:nvPr>
            <p:ph type="title"/>
          </p:nvPr>
        </p:nvSpPr>
        <p:spPr>
          <a:xfrm>
            <a:off x="838200" y="365125"/>
            <a:ext cx="10515600" cy="918243"/>
          </a:xfrm>
        </p:spPr>
        <p:txBody>
          <a:bodyPr>
            <a:normAutofit/>
          </a:bodyPr>
          <a:lstStyle/>
          <a:p>
            <a:pPr algn="ctr"/>
            <a:r>
              <a:rPr lang="en-IN" sz="3600" b="1" i="1" u="sng" dirty="0">
                <a:solidFill>
                  <a:srgbClr val="FF0000"/>
                </a:solidFill>
              </a:rPr>
              <a:t>Advantages &amp; Limitations</a:t>
            </a:r>
            <a:endParaRPr lang="en-IN" sz="3600" i="1" u="sng" dirty="0">
              <a:solidFill>
                <a:srgbClr val="FF0000"/>
              </a:solidFill>
            </a:endParaRPr>
          </a:p>
        </p:txBody>
      </p:sp>
      <p:sp>
        <p:nvSpPr>
          <p:cNvPr id="3" name="Text Placeholder 2">
            <a:extLst>
              <a:ext uri="{FF2B5EF4-FFF2-40B4-BE49-F238E27FC236}">
                <a16:creationId xmlns:a16="http://schemas.microsoft.com/office/drawing/2014/main" id="{13AD9CBF-FB5C-D52F-01C9-EDEC8D8B25D3}"/>
              </a:ext>
            </a:extLst>
          </p:cNvPr>
          <p:cNvSpPr>
            <a:spLocks noGrp="1"/>
          </p:cNvSpPr>
          <p:nvPr>
            <p:ph type="body" idx="1"/>
          </p:nvPr>
        </p:nvSpPr>
        <p:spPr>
          <a:xfrm>
            <a:off x="966537" y="1283368"/>
            <a:ext cx="10515600" cy="4351338"/>
          </a:xfrm>
        </p:spPr>
        <p:txBody>
          <a:bodyPr>
            <a:normAutofit fontScale="92500" lnSpcReduction="10000"/>
          </a:bodyPr>
          <a:lstStyle/>
          <a:p>
            <a:pPr marL="114300" indent="0">
              <a:buNone/>
            </a:pPr>
            <a:r>
              <a:rPr lang="en-IN" sz="2000" b="1" dirty="0"/>
              <a:t>Advantages</a:t>
            </a:r>
          </a:p>
          <a:p>
            <a:pPr>
              <a:buFont typeface="Wingdings" panose="05000000000000000000" pitchFamily="2" charset="2"/>
              <a:buChar char="§"/>
            </a:pPr>
            <a:r>
              <a:rPr lang="en-IN" sz="2000" dirty="0"/>
              <a:t>Evidence-based responses </a:t>
            </a:r>
          </a:p>
          <a:p>
            <a:pPr>
              <a:buFont typeface="Wingdings" panose="05000000000000000000" pitchFamily="2" charset="2"/>
              <a:buChar char="§"/>
            </a:pPr>
            <a:r>
              <a:rPr lang="en-IN" sz="2000" dirty="0"/>
              <a:t>Reduced hallucinations </a:t>
            </a:r>
          </a:p>
          <a:p>
            <a:pPr>
              <a:buFont typeface="Wingdings" panose="05000000000000000000" pitchFamily="2" charset="2"/>
              <a:buChar char="§"/>
            </a:pPr>
            <a:r>
              <a:rPr lang="en-IN" sz="2000" dirty="0"/>
              <a:t>Hybrid search improves accuracy </a:t>
            </a:r>
          </a:p>
          <a:p>
            <a:pPr>
              <a:buFont typeface="Wingdings" panose="05000000000000000000" pitchFamily="2" charset="2"/>
              <a:buChar char="§"/>
            </a:pPr>
            <a:r>
              <a:rPr lang="en-IN" sz="2000" dirty="0"/>
              <a:t>Easy to update knowledge base </a:t>
            </a:r>
          </a:p>
          <a:p>
            <a:pPr>
              <a:buFont typeface="Wingdings" panose="05000000000000000000" pitchFamily="2" charset="2"/>
              <a:buChar char="§"/>
            </a:pPr>
            <a:r>
              <a:rPr lang="en-IN" sz="2000" dirty="0"/>
              <a:t>Interactive web application </a:t>
            </a:r>
          </a:p>
          <a:p>
            <a:pPr>
              <a:buFont typeface="Wingdings" panose="05000000000000000000" pitchFamily="2" charset="2"/>
              <a:buChar char="§"/>
            </a:pPr>
            <a:endParaRPr lang="en-IN" sz="500" b="1" dirty="0"/>
          </a:p>
          <a:p>
            <a:pPr marL="114300" indent="0">
              <a:buNone/>
            </a:pPr>
            <a:r>
              <a:rPr lang="en-IN" sz="2000" b="1" dirty="0"/>
              <a:t>Limitations</a:t>
            </a:r>
          </a:p>
          <a:p>
            <a:pPr>
              <a:buFont typeface="Wingdings" panose="05000000000000000000" pitchFamily="2" charset="2"/>
              <a:buChar char="§"/>
            </a:pPr>
            <a:r>
              <a:rPr lang="en-IN" sz="2000" dirty="0"/>
              <a:t>Limited to the uploaded medical documents. </a:t>
            </a:r>
          </a:p>
          <a:p>
            <a:pPr>
              <a:buFont typeface="Wingdings" panose="05000000000000000000" pitchFamily="2" charset="2"/>
              <a:buChar char="§"/>
            </a:pPr>
            <a:r>
              <a:rPr lang="en-IN" sz="2000" dirty="0"/>
              <a:t>Supports only text-based PDF documents. </a:t>
            </a:r>
          </a:p>
          <a:p>
            <a:pPr>
              <a:buFont typeface="Wingdings" panose="05000000000000000000" pitchFamily="2" charset="2"/>
              <a:buChar char="§"/>
            </a:pPr>
            <a:r>
              <a:rPr lang="en-IN" sz="2000" dirty="0"/>
              <a:t>Cannot </a:t>
            </a:r>
            <a:r>
              <a:rPr lang="en-IN" sz="2000" dirty="0" err="1"/>
              <a:t>analyze</a:t>
            </a:r>
            <a:r>
              <a:rPr lang="en-IN" sz="2000" dirty="0"/>
              <a:t> medical images such as X-rays or MRI scans. </a:t>
            </a:r>
          </a:p>
          <a:p>
            <a:pPr>
              <a:buFont typeface="Wingdings" panose="05000000000000000000" pitchFamily="2" charset="2"/>
              <a:buChar char="§"/>
            </a:pPr>
            <a:r>
              <a:rPr lang="en-IN" sz="2000" dirty="0"/>
              <a:t>Performance depends on the quality of the knowledge base. </a:t>
            </a:r>
          </a:p>
        </p:txBody>
      </p:sp>
    </p:spTree>
    <p:extLst>
      <p:ext uri="{BB962C8B-B14F-4D97-AF65-F5344CB8AC3E}">
        <p14:creationId xmlns:p14="http://schemas.microsoft.com/office/powerpoint/2010/main" val="4270998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81A3C693-77E9-F8D3-4EDD-67BF540EF0AF}"/>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3A0187A5-54EA-8E1E-A35A-08AB294EE65F}"/>
              </a:ext>
            </a:extLst>
          </p:cNvPr>
          <p:cNvSpPr txBox="1">
            <a:spLocks noGrp="1"/>
          </p:cNvSpPr>
          <p:nvPr>
            <p:ph type="body" idx="1"/>
          </p:nvPr>
        </p:nvSpPr>
        <p:spPr>
          <a:xfrm>
            <a:off x="527192" y="1237028"/>
            <a:ext cx="11009671" cy="4777234"/>
          </a:xfrm>
          <a:prstGeom prst="rect">
            <a:avLst/>
          </a:prstGeom>
          <a:noFill/>
          <a:ln>
            <a:noFill/>
          </a:ln>
        </p:spPr>
        <p:txBody>
          <a:bodyPr spcFirstLastPara="1" wrap="square" lIns="91425" tIns="45700" rIns="91425" bIns="45700" anchor="t" anchorCtr="0">
            <a:noAutofit/>
          </a:bodyPr>
          <a:lstStyle/>
          <a:p>
            <a:pPr>
              <a:buFont typeface="Wingdings" panose="05000000000000000000" pitchFamily="2" charset="2"/>
              <a:buChar char="§"/>
            </a:pPr>
            <a:r>
              <a:rPr lang="en-IN" sz="2000" b="1" dirty="0"/>
              <a:t>Voice-Based Interaction</a:t>
            </a:r>
            <a:r>
              <a:rPr lang="en-IN" sz="2000" dirty="0"/>
              <a:t> – Enable users to ask healthcare questions using voice. </a:t>
            </a:r>
          </a:p>
          <a:p>
            <a:pPr>
              <a:buFont typeface="Wingdings" panose="05000000000000000000" pitchFamily="2" charset="2"/>
              <a:buChar char="§"/>
            </a:pPr>
            <a:r>
              <a:rPr lang="en-IN" sz="2000" b="1" dirty="0"/>
              <a:t>Multilingual Support</a:t>
            </a:r>
            <a:r>
              <a:rPr lang="en-IN" sz="2000" dirty="0"/>
              <a:t> – Support multiple regional and international languages. </a:t>
            </a:r>
          </a:p>
          <a:p>
            <a:pPr>
              <a:buFont typeface="Wingdings" panose="05000000000000000000" pitchFamily="2" charset="2"/>
              <a:buChar char="§"/>
            </a:pPr>
            <a:r>
              <a:rPr lang="en-IN" sz="2000" b="1" dirty="0"/>
              <a:t>Medical Image Analysis</a:t>
            </a:r>
            <a:r>
              <a:rPr lang="en-IN" sz="2000" dirty="0"/>
              <a:t> – Integrate X-ray, MRI, and CT scan interpretation. </a:t>
            </a:r>
          </a:p>
          <a:p>
            <a:pPr>
              <a:buFont typeface="Wingdings" panose="05000000000000000000" pitchFamily="2" charset="2"/>
              <a:buChar char="§"/>
            </a:pPr>
            <a:r>
              <a:rPr lang="en-IN" sz="2000" b="1" dirty="0"/>
              <a:t>EHR Integration</a:t>
            </a:r>
            <a:r>
              <a:rPr lang="en-IN" sz="2000" dirty="0"/>
              <a:t> – Connect with Electronic Health Records for personalized healthcare assistance. </a:t>
            </a:r>
          </a:p>
          <a:p>
            <a:pPr>
              <a:buFont typeface="Wingdings" panose="05000000000000000000" pitchFamily="2" charset="2"/>
              <a:buChar char="§"/>
            </a:pPr>
            <a:r>
              <a:rPr lang="en-IN" sz="2000" b="1" dirty="0"/>
              <a:t>Expanded Knowledge Base</a:t>
            </a:r>
            <a:r>
              <a:rPr lang="en-IN" sz="2000" dirty="0"/>
              <a:t> – Add more diseases, clinical guidelines, and updated medical research papers. </a:t>
            </a:r>
          </a:p>
          <a:p>
            <a:pPr>
              <a:buFont typeface="Wingdings" panose="05000000000000000000" pitchFamily="2" charset="2"/>
              <a:buChar char="§"/>
            </a:pPr>
            <a:r>
              <a:rPr lang="en-IN" sz="2000" b="1" dirty="0"/>
              <a:t>Cloud Deployment &amp; Advanced Medical LLMs</a:t>
            </a:r>
            <a:r>
              <a:rPr lang="en-IN" sz="2000" dirty="0"/>
              <a:t> – Deploy the system on the cloud and integrate fine-tuned medical language models for improved accuracy. </a:t>
            </a:r>
          </a:p>
        </p:txBody>
      </p:sp>
      <p:sp>
        <p:nvSpPr>
          <p:cNvPr id="8" name="TextBox 7">
            <a:extLst>
              <a:ext uri="{FF2B5EF4-FFF2-40B4-BE49-F238E27FC236}">
                <a16:creationId xmlns:a16="http://schemas.microsoft.com/office/drawing/2014/main" id="{A0DCB26C-DA1F-2C5B-21B3-35E2B5429BA3}"/>
              </a:ext>
            </a:extLst>
          </p:cNvPr>
          <p:cNvSpPr txBox="1"/>
          <p:nvPr/>
        </p:nvSpPr>
        <p:spPr>
          <a:xfrm>
            <a:off x="1379621" y="492374"/>
            <a:ext cx="9304815" cy="646331"/>
          </a:xfrm>
          <a:prstGeom prst="rect">
            <a:avLst/>
          </a:prstGeom>
          <a:noFill/>
        </p:spPr>
        <p:txBody>
          <a:bodyPr wrap="square">
            <a:spAutoFit/>
          </a:bodyPr>
          <a:lstStyle/>
          <a:p>
            <a:pPr algn="ctr"/>
            <a:r>
              <a:rPr lang="en-IN"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rPr>
              <a:t>Future Enhancements</a:t>
            </a:r>
          </a:p>
        </p:txBody>
      </p:sp>
    </p:spTree>
    <p:extLst>
      <p:ext uri="{BB962C8B-B14F-4D97-AF65-F5344CB8AC3E}">
        <p14:creationId xmlns:p14="http://schemas.microsoft.com/office/powerpoint/2010/main" val="40982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1604909-B8CA-7435-C9BD-67FCF3538899}"/>
            </a:ext>
          </a:extLst>
        </p:cNvPr>
        <p:cNvGrpSpPr/>
        <p:nvPr/>
      </p:nvGrpSpPr>
      <p:grpSpPr>
        <a:xfrm>
          <a:off x="0" y="0"/>
          <a:ext cx="0" cy="0"/>
          <a:chOff x="0" y="0"/>
          <a:chExt cx="0" cy="0"/>
        </a:xfrm>
      </p:grpSpPr>
      <p:sp>
        <p:nvSpPr>
          <p:cNvPr id="111" name="Google Shape;111;p4">
            <a:extLst>
              <a:ext uri="{FF2B5EF4-FFF2-40B4-BE49-F238E27FC236}">
                <a16:creationId xmlns:a16="http://schemas.microsoft.com/office/drawing/2014/main" id="{40E42E8F-F1BB-E666-516A-3A504BC115BC}"/>
              </a:ext>
            </a:extLst>
          </p:cNvPr>
          <p:cNvSpPr txBox="1">
            <a:spLocks noGrp="1"/>
          </p:cNvSpPr>
          <p:nvPr>
            <p:ph type="body" idx="1"/>
          </p:nvPr>
        </p:nvSpPr>
        <p:spPr>
          <a:xfrm>
            <a:off x="865238" y="1120338"/>
            <a:ext cx="9773265" cy="6010906"/>
          </a:xfrm>
          <a:prstGeom prst="rect">
            <a:avLst/>
          </a:prstGeom>
          <a:noFill/>
          <a:ln>
            <a:noFill/>
          </a:ln>
        </p:spPr>
        <p:txBody>
          <a:bodyPr spcFirstLastPara="1" wrap="square" lIns="91425" tIns="45700" rIns="91425" bIns="45700" anchor="t" anchorCtr="0">
            <a:noAutofit/>
          </a:bodyPr>
          <a:lstStyle/>
          <a:p>
            <a:pPr>
              <a:buFont typeface="Wingdings" panose="05000000000000000000" pitchFamily="2" charset="2"/>
              <a:buChar char="§"/>
            </a:pPr>
            <a:r>
              <a:rPr lang="en-IN" sz="1800" dirty="0"/>
              <a:t>Successfully designed and implemented a </a:t>
            </a:r>
            <a:r>
              <a:rPr lang="en-IN" sz="1800" b="1" dirty="0"/>
              <a:t>Hybrid RAG-based Healthcare Assistant</a:t>
            </a:r>
            <a:r>
              <a:rPr lang="en-IN" sz="1800" dirty="0"/>
              <a:t>.</a:t>
            </a:r>
          </a:p>
          <a:p>
            <a:pPr>
              <a:buFont typeface="Wingdings" panose="05000000000000000000" pitchFamily="2" charset="2"/>
              <a:buChar char="§"/>
            </a:pPr>
            <a:r>
              <a:rPr lang="en-IN" sz="1800" dirty="0"/>
              <a:t>Retrieved information from </a:t>
            </a:r>
            <a:r>
              <a:rPr lang="en-IN" sz="1800" b="1" dirty="0"/>
              <a:t>trusted medical documents</a:t>
            </a:r>
            <a:r>
              <a:rPr lang="en-IN" sz="1800" dirty="0"/>
              <a:t> instead of relying only on the LLM.</a:t>
            </a:r>
          </a:p>
          <a:p>
            <a:pPr>
              <a:buFont typeface="Wingdings" panose="05000000000000000000" pitchFamily="2" charset="2"/>
              <a:buChar char="§"/>
            </a:pPr>
            <a:r>
              <a:rPr lang="en-IN" sz="1800" dirty="0"/>
              <a:t>Improved retrieval quality using </a:t>
            </a:r>
            <a:r>
              <a:rPr lang="en-IN" sz="1800" b="1" dirty="0"/>
              <a:t>BM25, MMR, </a:t>
            </a:r>
            <a:r>
              <a:rPr lang="en-IN" sz="1800" b="1" dirty="0" err="1"/>
              <a:t>HyDE</a:t>
            </a:r>
            <a:r>
              <a:rPr lang="en-IN" sz="1800" b="1" dirty="0"/>
              <a:t>, and Context Compression</a:t>
            </a:r>
            <a:r>
              <a:rPr lang="en-IN" sz="1800" dirty="0"/>
              <a:t>.</a:t>
            </a:r>
          </a:p>
          <a:p>
            <a:pPr>
              <a:buFont typeface="Wingdings" panose="05000000000000000000" pitchFamily="2" charset="2"/>
              <a:buChar char="§"/>
            </a:pPr>
            <a:r>
              <a:rPr lang="en-IN" sz="1800" dirty="0"/>
              <a:t>Generated </a:t>
            </a:r>
            <a:r>
              <a:rPr lang="en-IN" sz="1800" b="1" dirty="0"/>
              <a:t>reliable, evidence-based responses</a:t>
            </a:r>
            <a:r>
              <a:rPr lang="en-IN" sz="1800" dirty="0"/>
              <a:t> with minimal hallucinations.</a:t>
            </a:r>
          </a:p>
          <a:p>
            <a:pPr>
              <a:buFont typeface="Wingdings" panose="05000000000000000000" pitchFamily="2" charset="2"/>
              <a:buChar char="§"/>
            </a:pPr>
            <a:r>
              <a:rPr lang="en-IN" sz="1800" dirty="0"/>
              <a:t>Built a user-friendly </a:t>
            </a:r>
            <a:r>
              <a:rPr lang="en-IN" sz="1800" b="1" dirty="0" err="1"/>
              <a:t>Streamlit</a:t>
            </a:r>
            <a:r>
              <a:rPr lang="en-IN" sz="1800" b="1" dirty="0"/>
              <a:t> application</a:t>
            </a:r>
            <a:r>
              <a:rPr lang="en-IN" sz="1800" dirty="0"/>
              <a:t> for healthcare question answering.</a:t>
            </a:r>
          </a:p>
        </p:txBody>
      </p:sp>
      <p:sp>
        <p:nvSpPr>
          <p:cNvPr id="8" name="TextBox 7">
            <a:extLst>
              <a:ext uri="{FF2B5EF4-FFF2-40B4-BE49-F238E27FC236}">
                <a16:creationId xmlns:a16="http://schemas.microsoft.com/office/drawing/2014/main" id="{E16587C3-DC39-00AA-5C53-C5335E07A8D9}"/>
              </a:ext>
            </a:extLst>
          </p:cNvPr>
          <p:cNvSpPr txBox="1"/>
          <p:nvPr/>
        </p:nvSpPr>
        <p:spPr>
          <a:xfrm>
            <a:off x="2635044" y="375685"/>
            <a:ext cx="6096000" cy="646331"/>
          </a:xfrm>
          <a:prstGeom prst="rect">
            <a:avLst/>
          </a:prstGeom>
          <a:noFill/>
        </p:spPr>
        <p:txBody>
          <a:bodyPr wrap="square">
            <a:spAutoFit/>
          </a:bodyPr>
          <a:lstStyle/>
          <a:p>
            <a:pPr algn="ctr"/>
            <a:r>
              <a:rPr lang="en-IN" sz="3600" b="1" i="1" u="sng" dirty="0">
                <a:solidFill>
                  <a:srgbClr val="FF0000"/>
                </a:solidFill>
                <a:latin typeface="Calibri" panose="020F0502020204030204" pitchFamily="34" charset="0"/>
                <a:ea typeface="Calibri" panose="020F0502020204030204" pitchFamily="34" charset="0"/>
                <a:cs typeface="Calibri" panose="020F0502020204030204" pitchFamily="34" charset="0"/>
              </a:rPr>
              <a:t>Conclusion</a:t>
            </a:r>
          </a:p>
        </p:txBody>
      </p:sp>
    </p:spTree>
    <p:extLst>
      <p:ext uri="{BB962C8B-B14F-4D97-AF65-F5344CB8AC3E}">
        <p14:creationId xmlns:p14="http://schemas.microsoft.com/office/powerpoint/2010/main" val="2268390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59841" y="2659559"/>
            <a:ext cx="4625258"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1" i="0" u="none" strike="noStrike" cap="none" dirty="0">
                <a:solidFill>
                  <a:srgbClr val="FF0000"/>
                </a:solidFill>
                <a:latin typeface="Libre Baskerville"/>
                <a:ea typeface="Libre Baskerville"/>
                <a:cs typeface="Libre Baskerville"/>
                <a:sym typeface="Libre Baskerville"/>
              </a:rPr>
              <a:t>THANK YOU</a:t>
            </a:r>
            <a:endParaRPr sz="1800" b="1" i="0" u="none" strike="noStrike" cap="none" dirty="0">
              <a:solidFill>
                <a:srgbClr val="FF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4248</TotalTime>
  <Words>1642</Words>
  <Application>Microsoft Office PowerPoint</Application>
  <PresentationFormat>Widescreen</PresentationFormat>
  <Paragraphs>219</Paragraphs>
  <Slides>22</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Calibri</vt:lpstr>
      <vt:lpstr>Times New Roman</vt:lpstr>
      <vt:lpstr>Arial</vt:lpstr>
      <vt:lpstr>Libre Baskerville</vt:lpstr>
      <vt:lpstr>Wingdings</vt:lpstr>
      <vt:lpstr>Office Theme</vt:lpstr>
      <vt:lpstr>PowerPoint Presentation</vt:lpstr>
      <vt:lpstr>About Me</vt:lpstr>
      <vt:lpstr>Agenda</vt:lpstr>
      <vt:lpstr>Introduction</vt:lpstr>
      <vt:lpstr>Business Problem</vt:lpstr>
      <vt:lpstr>Large Language Model (LLM)?</vt:lpstr>
      <vt:lpstr>Issues with LLM</vt:lpstr>
      <vt:lpstr>Retrieval-Augmented Generation (RAG)</vt:lpstr>
      <vt:lpstr>Why Do We Need RAG?</vt:lpstr>
      <vt:lpstr>PowerPoint Presentation</vt:lpstr>
      <vt:lpstr>PowerPoint Presentation</vt:lpstr>
      <vt:lpstr>Data Preparation (Offline Indexing)</vt:lpstr>
      <vt:lpstr>Hybrid Retrieval Pipeline</vt:lpstr>
      <vt:lpstr>LLM-Based Answer Generation</vt:lpstr>
      <vt:lpstr>Evaluation Using RAGAS</vt:lpstr>
      <vt:lpstr>RAGAS Evaluation Results</vt:lpstr>
      <vt:lpstr>PowerPoint Presentation</vt:lpstr>
      <vt:lpstr>PowerPoint Presentation</vt:lpstr>
      <vt:lpstr>Advantages &amp; Limitations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VIJAYA LAKSHMI BOLLAPALLI</cp:lastModifiedBy>
  <cp:revision>106</cp:revision>
  <dcterms:created xsi:type="dcterms:W3CDTF">2021-02-16T05:19:01Z</dcterms:created>
  <dcterms:modified xsi:type="dcterms:W3CDTF">2026-08-25T06:26:55Z</dcterms:modified>
</cp:coreProperties>
</file>